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49918417-80c0-a2cc-855e-3466114d0b49}">
          <p14:sldIdLst>
            <p14:sldId id="256"/>
            <p14:sldId id="257"/>
          </p14:sldIdLst>
        </p14:section>
        <p14:section name="Problema" id="{ca79c86f-baa6-6f02-15d2-14d2518aaa4f}">
          <p14:sldIdLst>
            <p14:sldId id="258"/>
          </p14:sldIdLst>
        </p14:section>
        <p14:section name="Usuario" id="{942bee3a-d254-3075-c6ea-f07282f93982}">
          <p14:sldIdLst>
            <p14:sldId id="259"/>
          </p14:sldIdLst>
        </p14:section>
        <p14:section name="Idea con IA" id="{6900c10b-69a2-569e-ec06-8677b6278f48}">
          <p14:sldIdLst>
            <p14:sldId id="260"/>
            <p14:sldId id="261"/>
            <p14:sldId id="262"/>
          </p14:sldIdLst>
        </p14:section>
        <p14:section name="Impacto" id="{f4691056-86f9-92c0-fd9c-4bca83c3b5d3}">
          <p14:sldIdLst>
            <p14:sldId id="263"/>
            <p14:sldId id="264"/>
            <p14:sldId id="265"/>
          </p14:sldIdLst>
        </p14:section>
        <p14:section name="Pedido" id="{abd2640e-0904-7476-26c2-3320d3dbb1e2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1F5C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B1F5C"/>
                </a:solidFill>
                <a:latin typeface="+mn-lt"/>
              </a:rPr>
              <a:t>% de visitas evitables anticipadas (simulado)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visitas evitables anticipadas</c:v>
                </c:pt>
              </c:strCache>
            </c:strRef>
          </c:tx>
          <c:spPr>
            <a:solidFill>
              <a:srgbClr val="0A22B8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1F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Azar</c:v>
                  </c:pt>
                  <c:pt idx="1">
                    <c:v>Regla de umbrales</c:v>
                  </c:pt>
                  <c:pt idx="2">
                    <c:v>Regresión logística</c:v>
                  </c:pt>
                  <c:pt idx="3">
                    <c:v>IA (LightGBM calibrado)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26</c:v>
                </c:pt>
                <c:pt idx="2">
                  <c:v>46</c:v>
                </c:pt>
                <c:pt idx="3">
                  <c:v>52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B1F5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8ED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1F5C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B1F5C"/>
                </a:solidFill>
                <a:latin typeface="+mn-lt"/>
              </a:rPr>
              <a:t>Neto año 1 por frente (millones de L, con inversión)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Hogar</c:v>
                </c:pt>
              </c:strCache>
            </c:strRef>
          </c:tx>
          <c:spPr>
            <a:solidFill>
              <a:srgbClr val="0A22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1F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Optimista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-0.6</c:v>
                </c:pt>
                <c:pt idx="1">
                  <c:v>1.3</c:v>
                </c:pt>
                <c:pt idx="2">
                  <c:v>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Móvil</c:v>
                </c:pt>
              </c:strCache>
            </c:strRef>
          </c:tx>
          <c:spPr>
            <a:solidFill>
              <a:srgbClr val="4CC9F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1F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Optimista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-2.3</c:v>
                </c:pt>
                <c:pt idx="1">
                  <c:v>3</c:v>
                </c:pt>
                <c:pt idx="2">
                  <c:v>10.8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0B1F5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 breve y una sola frase: 'En los próximos minutos les muestro cómo evitar la llamada y la visita del técnico antes de que el cliente note la falla.'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Experiencia del cliente como categoría principal, porque el objetivo es que el cliente no sufra la falla. Pero el beneficio se mide en red y operaciones y en eficiencia: menos visitas técnicas y menos llamadas.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la historia: un hogar empieza a tener problemas de WiFi. El módem lo reporta, y hoy esa señal se revisa cuando cruza un umbral. El cliente llama, esperamos, mandamos un técnico, y en 1 de cada 4 visitas no hay nada físico que arreglar. Tigo tiene 191 mil hogares, según el 20-F 2025 de Millicom. Decir con naturalidad que las cifras son supuestos a validar con Tigo.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usuarios con el mismo dolor. El cliente es el centro, pero también ganan los agentes y los técnicos, que dejan de atender problemas que se podían prevenir.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verbos: detecta, explica, resuelve y mide. La IA no reemplaza a nadie: le da a soporte una lista de trabajo diaria con el porqué de cada hogar. Las acciones remotas las ejecuta el sistema de gestión de módems (ACS), nunca la IA generativa.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pantalla, mostrar la demo 'Hogar en vivo' (77 segundos) o el video de respaldo. El riesgo diario y la explicación los calcula el modelo real sobre datos simulados.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medimos la IA contra nada: la medimos contra lo que Tigo ya tiene, la alarma por umbral. En datos simulados, con el mismo presupuesto, anticipa el doble. Decirlo claro: es una hipótesis que validamos con datos reales en dos semanas. Y si con datos reales no gana, usamos la regla: el piloto igual sirve.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contamos beneficio duro: visitas y llamadas evitadas por su costo. L 4.3 M netos en el año 1 en el escenario base. Usamos la base real de Tigo Honduras y costos hondureños: visita L 650, llamada L 65. Móvil se paga con 12 % menos llamadas y Hogar con 22 % menos visitas evitables. La retención y el NPS son upside, no están en el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Rango completo: −L 3 M a L 14 M. Si todos los supuestos salen mal a la vez, escalar perdería hasta L 3 M. Por eso no pedimos escalar: pedimos un piloto de L 770 mil que lo averigua. El piloto se mide contra un grupo control, con intervalo de confianza: así la decisión se toma con datos de Tigo, no con nuestra simulación.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ya no es solo una buena idea: desde marzo de 2026 CONATEL exige avisar las interrupciones y compensar automáticamente las horas sin servicio con un registro de duración y zonas. Tigo Predice automatiza las dos cosas, y además protege lo que Millicom prioriza este año: servicio, eficiencia y flujo de caja.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riesgo está acotado: 12 semanas, una ciudad y criterios de éxito definidos antes de empezar. Si no funciona, se detiene. Honduras aún no tiene una ley integral de datos personales, así que usamos GDPR como 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con claridad: L 770 mil, 12 semanas, datos y un equipo pequeño. Ustedes deciden en la semana 12 con datos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Pausa. Bajar el ritmo para la frase final. Luego: 'Gracias. ¿Preguntas?' (El documento de preguntas frecuentes del jurado tiene las respuestas preparadas.)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C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IERR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4CC9F0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0B1F5C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7616952" y="4206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 Shark Tank · Tigo CX Month</a:t>
            </a:r>
            <a:endParaRPr lang="en-US" sz="15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4CC9F0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F0"/>
                </a:solidFill>
              </a:rPr>
              <a:t>Tigo Predice · Clientes: Millicom 20-F 2025 · Costos y efectos: supuestos a validar con Tigo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i="1" dirty="0">
                <a:solidFill>
                  <a:srgbClr val="4CC9F0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o"/>
          <p:cNvSpPr txBox="1"/>
          <p:nvPr/>
        </p:nvSpPr>
        <p:spPr>
          <a:xfrm>
            <a:off x="73152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CC9F0"/>
                </a:solidFill>
              </a:rPr>
              <a:t>AI SHARK TANK · TIGO CX MONTH 2026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Tigo Predice</a:t>
            </a:r>
            <a:endParaRPr lang="en-US" sz="6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4CC9F0"/>
                </a:solidFill>
              </a:rPr>
              <a:t>La IA que resuelve la falla antes de que el cliente llame</a:t>
            </a:r>
            <a:endParaRPr lang="en-US" sz="2800" dirty="0"/>
          </a:p>
        </p:txBody>
      </p:sp>
      <p:sp>
        <p:nvSpPr>
          <p:cNvPr id="5" name="categoria"/>
          <p:cNvSpPr txBox="1"/>
          <p:nvPr/>
        </p:nvSpPr>
        <p:spPr>
          <a:xfrm>
            <a:off x="731520" y="4343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Categoría: </a:t>
            </a:r>
            <a:pPr indent="0" marL="0">
              <a:buNone/>
            </a:pPr>
            <a:r>
              <a:rPr lang="en-US" sz="1800" dirty="0">
                <a:solidFill>
                  <a:srgbClr val="C9D5F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📞 </a:t>
            </a:r>
            <a:pPr indent="0" marL="0">
              <a:buNone/>
            </a:pPr>
            <a:r>
              <a:rPr lang="en-US" sz="1800" dirty="0">
                <a:solidFill>
                  <a:srgbClr val="C9D5FB"/>
                </a:solidFill>
              </a:rPr>
              <a:t>Experiencia del cliente / CX   ·   </a:t>
            </a:r>
            <a:pPr indent="0" marL="0">
              <a:buNone/>
            </a:pPr>
            <a:r>
              <a:rPr lang="en-US" sz="1800" dirty="0">
                <a:solidFill>
                  <a:srgbClr val="C9D5F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 </a:t>
            </a:r>
            <a:pPr indent="0" marL="0">
              <a:buNone/>
            </a:pPr>
            <a:r>
              <a:rPr lang="en-US" sz="1800" dirty="0">
                <a:solidFill>
                  <a:srgbClr val="C9D5FB"/>
                </a:solidFill>
              </a:rPr>
              <a:t>Red y operaciones   ·   </a:t>
            </a:r>
            <a:pPr indent="0" marL="0">
              <a:buNone/>
            </a:pPr>
            <a:r>
              <a:rPr lang="en-US" sz="1800" dirty="0">
                <a:solidFill>
                  <a:srgbClr val="C9D5F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 </a:t>
            </a:r>
            <a:pPr indent="0" marL="0">
              <a:buNone/>
            </a:pPr>
            <a:r>
              <a:rPr lang="en-US" sz="1800" dirty="0">
                <a:solidFill>
                  <a:srgbClr val="C9D5FB"/>
                </a:solidFill>
              </a:rPr>
              <a:t>Eficiencia / reducción de costos</a:t>
            </a:r>
            <a:endParaRPr lang="en-US" sz="1800" dirty="0"/>
          </a:p>
        </p:txBody>
      </p:sp>
      <p:sp>
        <p:nvSpPr>
          <p:cNvPr id="6" name="integrantes"/>
          <p:cNvSpPr txBox="1"/>
          <p:nvPr/>
        </p:nvSpPr>
        <p:spPr>
          <a:xfrm>
            <a:off x="731520" y="4892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Presenta: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Sandra Michel Jimenez Zelaya · Asistente de Experiencia B2B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Nuestra apuesta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Categoría de impacto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Experiencia del cliente, con ahorro medible en red y operaciones</a:t>
            </a:r>
            <a:endParaRPr lang="en-US" sz="3000" dirty="0"/>
          </a:p>
        </p:txBody>
      </p:sp>
      <p:sp>
        <p:nvSpPr>
          <p:cNvPr id="6" name="cat0"/>
          <p:cNvSpPr/>
          <p:nvPr/>
        </p:nvSpPr>
        <p:spPr>
          <a:xfrm>
            <a:off x="548640" y="2514600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7" name="cate0"/>
          <p:cNvSpPr txBox="1"/>
          <p:nvPr/>
        </p:nvSpPr>
        <p:spPr>
          <a:xfrm>
            <a:off x="713232" y="26426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📞</a:t>
            </a:r>
            <a:endParaRPr lang="en-US" sz="2400" dirty="0"/>
          </a:p>
        </p:txBody>
      </p:sp>
      <p:sp>
        <p:nvSpPr>
          <p:cNvPr id="8" name="catt0"/>
          <p:cNvSpPr txBox="1"/>
          <p:nvPr/>
        </p:nvSpPr>
        <p:spPr>
          <a:xfrm>
            <a:off x="713232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Experiencia del cliente / CX</a:t>
            </a:r>
            <a:endParaRPr lang="en-US" sz="1400" dirty="0"/>
          </a:p>
        </p:txBody>
      </p:sp>
      <p:sp>
        <p:nvSpPr>
          <p:cNvPr id="9" name="principal"/>
          <p:cNvSpPr txBox="1"/>
          <p:nvPr/>
        </p:nvSpPr>
        <p:spPr>
          <a:xfrm>
            <a:off x="1645920" y="26700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A22B8"/>
                </a:solidFill>
              </a:rPr>
              <a:t>PRINCIPAL</a:t>
            </a:r>
            <a:endParaRPr lang="en-US" sz="1000" dirty="0"/>
          </a:p>
        </p:txBody>
      </p:sp>
      <p:sp>
        <p:nvSpPr>
          <p:cNvPr id="10" name="cat1"/>
          <p:cNvSpPr/>
          <p:nvPr/>
        </p:nvSpPr>
        <p:spPr>
          <a:xfrm>
            <a:off x="2880360" y="2514600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cate1"/>
          <p:cNvSpPr txBox="1"/>
          <p:nvPr/>
        </p:nvSpPr>
        <p:spPr>
          <a:xfrm>
            <a:off x="3044952" y="26426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400" dirty="0"/>
          </a:p>
        </p:txBody>
      </p:sp>
      <p:sp>
        <p:nvSpPr>
          <p:cNvPr id="12" name="catt1"/>
          <p:cNvSpPr txBox="1"/>
          <p:nvPr/>
        </p:nvSpPr>
        <p:spPr>
          <a:xfrm>
            <a:off x="3044952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EE"/>
                </a:solidFill>
              </a:rPr>
              <a:t>Self-service y canales digitales</a:t>
            </a:r>
            <a:endParaRPr lang="en-US" sz="1400" dirty="0"/>
          </a:p>
        </p:txBody>
      </p:sp>
      <p:sp>
        <p:nvSpPr>
          <p:cNvPr id="13" name="cat2"/>
          <p:cNvSpPr/>
          <p:nvPr/>
        </p:nvSpPr>
        <p:spPr>
          <a:xfrm>
            <a:off x="5212080" y="2514600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cate2"/>
          <p:cNvSpPr txBox="1"/>
          <p:nvPr/>
        </p:nvSpPr>
        <p:spPr>
          <a:xfrm>
            <a:off x="5376672" y="26426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🛍️</a:t>
            </a:r>
            <a:endParaRPr lang="en-US" sz="2400" dirty="0"/>
          </a:p>
        </p:txBody>
      </p:sp>
      <p:sp>
        <p:nvSpPr>
          <p:cNvPr id="15" name="catt2"/>
          <p:cNvSpPr txBox="1"/>
          <p:nvPr/>
        </p:nvSpPr>
        <p:spPr>
          <a:xfrm>
            <a:off x="5376672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EE"/>
                </a:solidFill>
              </a:rPr>
              <a:t>Ventas y comercial</a:t>
            </a:r>
            <a:endParaRPr lang="en-US" sz="1400" dirty="0"/>
          </a:p>
        </p:txBody>
      </p:sp>
      <p:sp>
        <p:nvSpPr>
          <p:cNvPr id="16" name="cat3"/>
          <p:cNvSpPr/>
          <p:nvPr/>
        </p:nvSpPr>
        <p:spPr>
          <a:xfrm>
            <a:off x="548640" y="3730752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7" name="cate3"/>
          <p:cNvSpPr txBox="1"/>
          <p:nvPr/>
        </p:nvSpPr>
        <p:spPr>
          <a:xfrm>
            <a:off x="713232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2400" dirty="0"/>
          </a:p>
        </p:txBody>
      </p:sp>
      <p:sp>
        <p:nvSpPr>
          <p:cNvPr id="18" name="catt3"/>
          <p:cNvSpPr txBox="1"/>
          <p:nvPr/>
        </p:nvSpPr>
        <p:spPr>
          <a:xfrm>
            <a:off x="713232" y="4279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Red y operaciones</a:t>
            </a:r>
            <a:endParaRPr lang="en-US" sz="1400" dirty="0"/>
          </a:p>
        </p:txBody>
      </p:sp>
      <p:sp>
        <p:nvSpPr>
          <p:cNvPr id="19" name="cat4"/>
          <p:cNvSpPr/>
          <p:nvPr/>
        </p:nvSpPr>
        <p:spPr>
          <a:xfrm>
            <a:off x="2880360" y="3730752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20" name="cate4"/>
          <p:cNvSpPr txBox="1"/>
          <p:nvPr/>
        </p:nvSpPr>
        <p:spPr>
          <a:xfrm>
            <a:off x="3044952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2400" dirty="0"/>
          </a:p>
        </p:txBody>
      </p:sp>
      <p:sp>
        <p:nvSpPr>
          <p:cNvPr id="21" name="catt4"/>
          <p:cNvSpPr txBox="1"/>
          <p:nvPr/>
        </p:nvSpPr>
        <p:spPr>
          <a:xfrm>
            <a:off x="3044952" y="4279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Eficiencia / reducción de costos</a:t>
            </a:r>
            <a:endParaRPr lang="en-US" sz="1400" dirty="0"/>
          </a:p>
        </p:txBody>
      </p:sp>
      <p:sp>
        <p:nvSpPr>
          <p:cNvPr id="22" name="cat5"/>
          <p:cNvSpPr/>
          <p:nvPr/>
        </p:nvSpPr>
        <p:spPr>
          <a:xfrm>
            <a:off x="5212080" y="3730752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cate5"/>
          <p:cNvSpPr txBox="1"/>
          <p:nvPr/>
        </p:nvSpPr>
        <p:spPr>
          <a:xfrm>
            <a:off x="5376672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🧑‍💼</a:t>
            </a:r>
            <a:endParaRPr lang="en-US" sz="2400" dirty="0"/>
          </a:p>
        </p:txBody>
      </p:sp>
      <p:sp>
        <p:nvSpPr>
          <p:cNvPr id="24" name="catt5"/>
          <p:cNvSpPr txBox="1"/>
          <p:nvPr/>
        </p:nvSpPr>
        <p:spPr>
          <a:xfrm>
            <a:off x="5376672" y="4279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EE"/>
                </a:solidFill>
              </a:rPr>
              <a:t>Experiencia del colaborador</a:t>
            </a:r>
            <a:endParaRPr lang="en-US" sz="1400" dirty="0"/>
          </a:p>
        </p:txBody>
      </p:sp>
      <p:sp>
        <p:nvSpPr>
          <p:cNvPr id="25" name="cat6"/>
          <p:cNvSpPr/>
          <p:nvPr/>
        </p:nvSpPr>
        <p:spPr>
          <a:xfrm>
            <a:off x="548640" y="4946904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cate6"/>
          <p:cNvSpPr txBox="1"/>
          <p:nvPr/>
        </p:nvSpPr>
        <p:spPr>
          <a:xfrm>
            <a:off x="713232" y="5074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27" name="catt6"/>
          <p:cNvSpPr txBox="1"/>
          <p:nvPr/>
        </p:nvSpPr>
        <p:spPr>
          <a:xfrm>
            <a:off x="713232" y="5495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EE"/>
                </a:solidFill>
              </a:rPr>
              <a:t>Analítica y toma de decisiones</a:t>
            </a:r>
            <a:endParaRPr lang="en-US" sz="1400" dirty="0"/>
          </a:p>
        </p:txBody>
      </p:sp>
      <p:sp>
        <p:nvSpPr>
          <p:cNvPr id="28" name="cat7"/>
          <p:cNvSpPr/>
          <p:nvPr/>
        </p:nvSpPr>
        <p:spPr>
          <a:xfrm>
            <a:off x="2880360" y="4946904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cate7"/>
          <p:cNvSpPr txBox="1"/>
          <p:nvPr/>
        </p:nvSpPr>
        <p:spPr>
          <a:xfrm>
            <a:off x="3044952" y="5074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400" dirty="0"/>
          </a:p>
        </p:txBody>
      </p:sp>
      <p:sp>
        <p:nvSpPr>
          <p:cNvPr id="30" name="catt7"/>
          <p:cNvSpPr txBox="1"/>
          <p:nvPr/>
        </p:nvSpPr>
        <p:spPr>
          <a:xfrm>
            <a:off x="3044952" y="5495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EE"/>
                </a:solidFill>
              </a:rPr>
              <a:t>Prevención de fraude</a:t>
            </a:r>
            <a:endParaRPr lang="en-US" sz="1400" dirty="0"/>
          </a:p>
        </p:txBody>
      </p:sp>
      <p:sp>
        <p:nvSpPr>
          <p:cNvPr id="31" name="cat8"/>
          <p:cNvSpPr/>
          <p:nvPr/>
        </p:nvSpPr>
        <p:spPr>
          <a:xfrm>
            <a:off x="5212080" y="4946904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cate8"/>
          <p:cNvSpPr txBox="1"/>
          <p:nvPr/>
        </p:nvSpPr>
        <p:spPr>
          <a:xfrm>
            <a:off x="5376672" y="5074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400" dirty="0"/>
          </a:p>
        </p:txBody>
      </p:sp>
      <p:sp>
        <p:nvSpPr>
          <p:cNvPr id="33" name="catt8"/>
          <p:cNvSpPr txBox="1"/>
          <p:nvPr/>
        </p:nvSpPr>
        <p:spPr>
          <a:xfrm>
            <a:off x="5376672" y="5495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EE"/>
                </a:solidFill>
              </a:rPr>
              <a:t>Nuevos productos o ingresos</a:t>
            </a:r>
            <a:endParaRPr lang="en-US" sz="1400" dirty="0"/>
          </a:p>
        </p:txBody>
      </p:sp>
      <p:sp>
        <p:nvSpPr>
          <p:cNvPr id="34" name="apuesta"/>
          <p:cNvSpPr/>
          <p:nvPr/>
        </p:nvSpPr>
        <p:spPr>
          <a:xfrm>
            <a:off x="7726680" y="2514600"/>
            <a:ext cx="3913632" cy="3511296"/>
          </a:xfrm>
          <a:prstGeom prst="roundRect">
            <a:avLst>
              <a:gd name="adj" fmla="val 3646"/>
            </a:avLst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35" name="apuesta-t"/>
          <p:cNvSpPr txBox="1"/>
          <p:nvPr/>
        </p:nvSpPr>
        <p:spPr>
          <a:xfrm>
            <a:off x="8046720" y="274320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CC9F0"/>
                </a:solidFill>
              </a:rPr>
              <a:t>En una frase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</a:rPr>
              <a:t>Los chatbots y copilotos atienden la llamada.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C629"/>
                </a:solidFill>
              </a:rPr>
              <a:t>Tigo Predice evita que ocurra.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9D5FB"/>
                </a:solidFill>
              </a:rPr>
              <a:t>Detecta la falla en el módem días antes, la corrige a distancia y avisa al cliente por WhatsApp.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Problema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¿Qué queremos solucionar?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Llegamos tarde: el módem avisa y esperamos la llamada</a:t>
            </a:r>
            <a:endParaRPr lang="en-US" sz="3000" dirty="0"/>
          </a:p>
        </p:txBody>
      </p:sp>
      <p:sp>
        <p:nvSpPr>
          <p:cNvPr id="6" name="linea"/>
          <p:cNvSpPr/>
          <p:nvPr/>
        </p:nvSpPr>
        <p:spPr>
          <a:xfrm>
            <a:off x="868680" y="2834640"/>
            <a:ext cx="8394192" cy="0"/>
          </a:xfrm>
          <a:prstGeom prst="line">
            <a:avLst/>
          </a:prstGeom>
          <a:noFill/>
          <a:ln w="25400">
            <a:solidFill>
              <a:srgbClr val="C9D5FB"/>
            </a:solidFill>
            <a:prstDash val="dash"/>
          </a:ln>
        </p:spPr>
      </p:sp>
      <p:sp>
        <p:nvSpPr>
          <p:cNvPr id="7" name="paso0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paso0-t"/>
          <p:cNvSpPr txBox="1"/>
          <p:nvPr/>
        </p:nvSpPr>
        <p:spPr>
          <a:xfrm>
            <a:off x="5486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5C"/>
                </a:solidFill>
              </a:rPr>
              <a:t>1</a:t>
            </a:r>
            <a:endParaRPr lang="en-US" sz="2100" dirty="0"/>
          </a:p>
        </p:txBody>
      </p:sp>
      <p:sp>
        <p:nvSpPr>
          <p:cNvPr id="9" name="pasot0"/>
          <p:cNvSpPr txBox="1"/>
          <p:nvPr/>
        </p:nvSpPr>
        <p:spPr>
          <a:xfrm>
            <a:off x="548640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El módem se degrada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Baja la señal, se satura el WiFi, se reinicia solo. El cliente aún no nota nada.</a:t>
            </a:r>
            <a:endParaRPr lang="en-US" sz="1600" dirty="0"/>
          </a:p>
        </p:txBody>
      </p:sp>
      <p:sp>
        <p:nvSpPr>
          <p:cNvPr id="10" name="paso1"/>
          <p:cNvSpPr/>
          <p:nvPr/>
        </p:nvSpPr>
        <p:spPr>
          <a:xfrm>
            <a:off x="3346704" y="2514600"/>
            <a:ext cx="640080" cy="6400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paso1-t"/>
          <p:cNvSpPr txBox="1"/>
          <p:nvPr/>
        </p:nvSpPr>
        <p:spPr>
          <a:xfrm>
            <a:off x="3346704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5C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pasot1"/>
          <p:cNvSpPr txBox="1"/>
          <p:nvPr/>
        </p:nvSpPr>
        <p:spPr>
          <a:xfrm>
            <a:off x="3346704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El cliente llama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Ya sin servicio, llama al call center, espera y le agendan un técnico.</a:t>
            </a:r>
            <a:endParaRPr lang="en-US" sz="1600" dirty="0"/>
          </a:p>
        </p:txBody>
      </p:sp>
      <p:sp>
        <p:nvSpPr>
          <p:cNvPr id="13" name="paso2"/>
          <p:cNvSpPr/>
          <p:nvPr/>
        </p:nvSpPr>
        <p:spPr>
          <a:xfrm>
            <a:off x="6144768" y="2514600"/>
            <a:ext cx="640080" cy="6400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paso2-t"/>
          <p:cNvSpPr txBox="1"/>
          <p:nvPr/>
        </p:nvSpPr>
        <p:spPr>
          <a:xfrm>
            <a:off x="6144768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5C"/>
                </a:solidFill>
              </a:rPr>
              <a:t>3</a:t>
            </a:r>
            <a:endParaRPr lang="en-US" sz="2100" dirty="0"/>
          </a:p>
        </p:txBody>
      </p:sp>
      <p:sp>
        <p:nvSpPr>
          <p:cNvPr id="15" name="pasot2"/>
          <p:cNvSpPr txBox="1"/>
          <p:nvPr/>
        </p:nvSpPr>
        <p:spPr>
          <a:xfrm>
            <a:off x="6144768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Recién alarma la regla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La alarma por umbral se activa cuando el problema ya es evidente.</a:t>
            </a:r>
            <a:endParaRPr lang="en-US" sz="1600" dirty="0"/>
          </a:p>
        </p:txBody>
      </p:sp>
      <p:sp>
        <p:nvSpPr>
          <p:cNvPr id="16" name="paso3"/>
          <p:cNvSpPr/>
          <p:nvPr/>
        </p:nvSpPr>
        <p:spPr>
          <a:xfrm>
            <a:off x="8942832" y="2514600"/>
            <a:ext cx="640080" cy="64008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17" name="paso3-t"/>
          <p:cNvSpPr txBox="1"/>
          <p:nvPr/>
        </p:nvSpPr>
        <p:spPr>
          <a:xfrm>
            <a:off x="8942832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4</a:t>
            </a:r>
            <a:endParaRPr lang="en-US" sz="2100" dirty="0"/>
          </a:p>
        </p:txBody>
      </p:sp>
      <p:sp>
        <p:nvSpPr>
          <p:cNvPr id="18" name="pasot3"/>
          <p:cNvSpPr txBox="1"/>
          <p:nvPr/>
        </p:nvSpPr>
        <p:spPr>
          <a:xfrm>
            <a:off x="8942832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El técnico no encuentra nada físico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Cambia el canal del WiFi o actualiza el firmware… y se va.</a:t>
            </a:r>
            <a:endParaRPr lang="en-US" sz="1600" dirty="0"/>
          </a:p>
        </p:txBody>
      </p:sp>
      <p:sp>
        <p:nvSpPr>
          <p:cNvPr id="19" name="dato0"/>
          <p:cNvSpPr/>
          <p:nvPr/>
        </p:nvSpPr>
        <p:spPr>
          <a:xfrm>
            <a:off x="548640" y="4754880"/>
            <a:ext cx="363016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20" name="datov0"/>
          <p:cNvSpPr txBox="1"/>
          <p:nvPr/>
        </p:nvSpPr>
        <p:spPr>
          <a:xfrm>
            <a:off x="822960" y="4864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2B8"/>
                </a:solidFill>
              </a:rPr>
              <a:t>5,700</a:t>
            </a:r>
            <a:endParaRPr lang="en-US" sz="3400" dirty="0"/>
          </a:p>
        </p:txBody>
      </p:sp>
      <p:sp>
        <p:nvSpPr>
          <p:cNvPr id="21" name="datoe0"/>
          <p:cNvSpPr txBox="1"/>
          <p:nvPr/>
        </p:nvSpPr>
        <p:spPr>
          <a:xfrm>
            <a:off x="822960" y="5504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visitas técnicas al mes en 191,000 hogares (estimado)</a:t>
            </a:r>
            <a:endParaRPr lang="en-US" sz="1400" dirty="0"/>
          </a:p>
        </p:txBody>
      </p:sp>
      <p:sp>
        <p:nvSpPr>
          <p:cNvPr id="22" name="dato1"/>
          <p:cNvSpPr/>
          <p:nvPr/>
        </p:nvSpPr>
        <p:spPr>
          <a:xfrm>
            <a:off x="4279392" y="4754880"/>
            <a:ext cx="363016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23" name="datov1"/>
          <p:cNvSpPr txBox="1"/>
          <p:nvPr/>
        </p:nvSpPr>
        <p:spPr>
          <a:xfrm>
            <a:off x="4553712" y="4864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5C54"/>
                </a:solidFill>
              </a:rPr>
              <a:t>1 de cada 4</a:t>
            </a:r>
            <a:endParaRPr lang="en-US" sz="3400" dirty="0"/>
          </a:p>
        </p:txBody>
      </p:sp>
      <p:sp>
        <p:nvSpPr>
          <p:cNvPr id="24" name="datoe1"/>
          <p:cNvSpPr txBox="1"/>
          <p:nvPr/>
        </p:nvSpPr>
        <p:spPr>
          <a:xfrm>
            <a:off x="4553712" y="5504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visitas se podían evitar (la industria: 17–20 % «sin falla»)</a:t>
            </a:r>
            <a:endParaRPr lang="en-US" sz="1400" dirty="0"/>
          </a:p>
        </p:txBody>
      </p:sp>
      <p:sp>
        <p:nvSpPr>
          <p:cNvPr id="25" name="dato2"/>
          <p:cNvSpPr/>
          <p:nvPr/>
        </p:nvSpPr>
        <p:spPr>
          <a:xfrm>
            <a:off x="8010144" y="4754880"/>
            <a:ext cx="363016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26" name="datov2"/>
          <p:cNvSpPr txBox="1"/>
          <p:nvPr/>
        </p:nvSpPr>
        <p:spPr>
          <a:xfrm>
            <a:off x="8284464" y="4864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2B8"/>
                </a:solidFill>
              </a:rPr>
              <a:t>L 650</a:t>
            </a:r>
            <a:endParaRPr lang="en-US" sz="3400" dirty="0"/>
          </a:p>
        </p:txBody>
      </p:sp>
      <p:sp>
        <p:nvSpPr>
          <p:cNvPr id="27" name="datoe2"/>
          <p:cNvSpPr txBox="1"/>
          <p:nvPr/>
        </p:nvSpPr>
        <p:spPr>
          <a:xfrm>
            <a:off x="8284464" y="5504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por visita, más 2 llamadas al call center antes de agendarla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Usuario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¿A quién le afecta?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Afecta al cliente, a quienes lo atienden y al negocio</a:t>
            </a:r>
            <a:endParaRPr lang="en-US" sz="3000" dirty="0"/>
          </a:p>
        </p:txBody>
      </p:sp>
      <p:sp>
        <p:nvSpPr>
          <p:cNvPr id="6" name="u0"/>
          <p:cNvSpPr/>
          <p:nvPr/>
        </p:nvSpPr>
        <p:spPr>
          <a:xfrm>
            <a:off x="548640" y="25146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7" name="ue0"/>
          <p:cNvSpPr txBox="1"/>
          <p:nvPr/>
        </p:nvSpPr>
        <p:spPr>
          <a:xfrm>
            <a:off x="777240" y="267004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3200" dirty="0"/>
          </a:p>
        </p:txBody>
      </p:sp>
      <p:sp>
        <p:nvSpPr>
          <p:cNvPr id="8" name="ut0"/>
          <p:cNvSpPr txBox="1"/>
          <p:nvPr/>
        </p:nvSpPr>
        <p:spPr>
          <a:xfrm>
            <a:off x="777240" y="3337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5C"/>
                </a:solidFill>
              </a:rPr>
              <a:t>Cliente de Internet Hogar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Pierde el servicio, llama, espera y debe quedarse en casa para el técnico. 191,000 hogares de Tigo (Millicom, 2025).</a:t>
            </a:r>
            <a:endParaRPr lang="en-US" sz="1600" dirty="0"/>
          </a:p>
        </p:txBody>
      </p:sp>
      <p:sp>
        <p:nvSpPr>
          <p:cNvPr id="9" name="u1"/>
          <p:cNvSpPr/>
          <p:nvPr/>
        </p:nvSpPr>
        <p:spPr>
          <a:xfrm>
            <a:off x="3346704" y="25146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0" name="ue1"/>
          <p:cNvSpPr txBox="1"/>
          <p:nvPr/>
        </p:nvSpPr>
        <p:spPr>
          <a:xfrm>
            <a:off x="3575304" y="267004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3200" dirty="0"/>
          </a:p>
        </p:txBody>
      </p:sp>
      <p:sp>
        <p:nvSpPr>
          <p:cNvPr id="11" name="ut1"/>
          <p:cNvSpPr txBox="1"/>
          <p:nvPr/>
        </p:nvSpPr>
        <p:spPr>
          <a:xfrm>
            <a:off x="3575304" y="3337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5C"/>
                </a:solidFill>
              </a:rPr>
              <a:t>Cliente móvil en una falla masiva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5.0 M de clientes. En una falla masiva no sabe qué pasa: sin aviso, 1 de cada 3 afectados llama.</a:t>
            </a:r>
            <a:endParaRPr lang="en-US" sz="1600" dirty="0"/>
          </a:p>
        </p:txBody>
      </p:sp>
      <p:sp>
        <p:nvSpPr>
          <p:cNvPr id="12" name="u2"/>
          <p:cNvSpPr/>
          <p:nvPr/>
        </p:nvSpPr>
        <p:spPr>
          <a:xfrm>
            <a:off x="6144768" y="25146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3" name="ue2"/>
          <p:cNvSpPr txBox="1"/>
          <p:nvPr/>
        </p:nvSpPr>
        <p:spPr>
          <a:xfrm>
            <a:off x="6373368" y="267004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🎧</a:t>
            </a:r>
            <a:endParaRPr lang="en-US" sz="3200" dirty="0"/>
          </a:p>
        </p:txBody>
      </p:sp>
      <p:sp>
        <p:nvSpPr>
          <p:cNvPr id="14" name="ut2"/>
          <p:cNvSpPr txBox="1"/>
          <p:nvPr/>
        </p:nvSpPr>
        <p:spPr>
          <a:xfrm>
            <a:off x="6373368" y="3337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5C"/>
                </a:solidFill>
              </a:rPr>
              <a:t>Agentes del call center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Atienden llamadas repetidas sobre fallas que la red ya conocía y no pueden resolver.</a:t>
            </a:r>
            <a:endParaRPr lang="en-US" sz="1600" dirty="0"/>
          </a:p>
        </p:txBody>
      </p:sp>
      <p:sp>
        <p:nvSpPr>
          <p:cNvPr id="15" name="u3"/>
          <p:cNvSpPr/>
          <p:nvPr/>
        </p:nvSpPr>
        <p:spPr>
          <a:xfrm>
            <a:off x="8942832" y="25146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6" name="ue3"/>
          <p:cNvSpPr txBox="1"/>
          <p:nvPr/>
        </p:nvSpPr>
        <p:spPr>
          <a:xfrm>
            <a:off x="9171432" y="267004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🛠️</a:t>
            </a:r>
            <a:endParaRPr lang="en-US" sz="3200" dirty="0"/>
          </a:p>
        </p:txBody>
      </p:sp>
      <p:sp>
        <p:nvSpPr>
          <p:cNvPr id="17" name="ut3"/>
          <p:cNvSpPr txBox="1"/>
          <p:nvPr/>
        </p:nvSpPr>
        <p:spPr>
          <a:xfrm>
            <a:off x="9171432" y="3337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5C"/>
                </a:solidFill>
              </a:rPr>
              <a:t>Técnicos de campo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1 de cada 4 visitas es a un hogar sin falla física: tiempo que no llega a quien sí lo necesita.</a:t>
            </a:r>
            <a:endParaRPr lang="en-US" sz="1600" dirty="0"/>
          </a:p>
        </p:txBody>
      </p:sp>
      <p:sp>
        <p:nvSpPr>
          <p:cNvPr id="18" name="negocio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negocio-t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629"/>
                </a:solidFill>
              </a:rPr>
              <a:t>Y para Tigo: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 650 por visita, L 65 por llamada y un cliente que recuerda que tuvo que llamar (NPS).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Nuestra idea con IA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¿Cómo solucionamos el problema?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La IA detecta, explica y resuelve antes de que el cliente llame</a:t>
            </a:r>
            <a:endParaRPr lang="en-US" sz="3000" dirty="0"/>
          </a:p>
        </p:txBody>
      </p:sp>
      <p:sp>
        <p:nvSpPr>
          <p:cNvPr id="6" name="idea0"/>
          <p:cNvSpPr/>
          <p:nvPr/>
        </p:nvSpPr>
        <p:spPr>
          <a:xfrm>
            <a:off x="548640" y="2514600"/>
            <a:ext cx="26974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7" name="idean0"/>
          <p:cNvSpPr/>
          <p:nvPr/>
        </p:nvSpPr>
        <p:spPr>
          <a:xfrm>
            <a:off x="777240" y="2724912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idean0-t"/>
          <p:cNvSpPr txBox="1"/>
          <p:nvPr/>
        </p:nvSpPr>
        <p:spPr>
          <a:xfrm>
            <a:off x="77724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1</a:t>
            </a:r>
            <a:endParaRPr lang="en-US" sz="1900" dirty="0"/>
          </a:p>
        </p:txBody>
      </p:sp>
      <p:sp>
        <p:nvSpPr>
          <p:cNvPr id="9" name="ideat0"/>
          <p:cNvSpPr txBox="1"/>
          <p:nvPr/>
        </p:nvSpPr>
        <p:spPr>
          <a:xfrm>
            <a:off x="1463040" y="27249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Detecta</a:t>
            </a:r>
            <a:endParaRPr lang="en-US" sz="2400" dirty="0"/>
          </a:p>
        </p:txBody>
      </p:sp>
      <p:sp>
        <p:nvSpPr>
          <p:cNvPr id="10" name="idead0"/>
          <p:cNvSpPr txBox="1"/>
          <p:nvPr/>
        </p:nvSpPr>
        <p:spPr>
          <a:xfrm>
            <a:off x="777240" y="3429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Cada semana la IA lee la telemetría de todos los módems y marca al 2 % con más riesgo de fallar en 7 días.</a:t>
            </a:r>
            <a:endParaRPr lang="en-US" sz="1400" dirty="0"/>
          </a:p>
        </p:txBody>
      </p:sp>
      <p:sp>
        <p:nvSpPr>
          <p:cNvPr id="11" name="idea1"/>
          <p:cNvSpPr/>
          <p:nvPr/>
        </p:nvSpPr>
        <p:spPr>
          <a:xfrm>
            <a:off x="3346704" y="2514600"/>
            <a:ext cx="26974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2" name="idean1"/>
          <p:cNvSpPr/>
          <p:nvPr/>
        </p:nvSpPr>
        <p:spPr>
          <a:xfrm>
            <a:off x="3575304" y="2724912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idean1-t"/>
          <p:cNvSpPr txBox="1"/>
          <p:nvPr/>
        </p:nvSpPr>
        <p:spPr>
          <a:xfrm>
            <a:off x="3575304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2</a:t>
            </a:r>
            <a:endParaRPr lang="en-US" sz="1900" dirty="0"/>
          </a:p>
        </p:txBody>
      </p:sp>
      <p:sp>
        <p:nvSpPr>
          <p:cNvPr id="14" name="ideat1"/>
          <p:cNvSpPr txBox="1"/>
          <p:nvPr/>
        </p:nvSpPr>
        <p:spPr>
          <a:xfrm>
            <a:off x="4261104" y="27249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Explica</a:t>
            </a:r>
            <a:endParaRPr lang="en-US" sz="2400" dirty="0"/>
          </a:p>
        </p:txBody>
      </p:sp>
      <p:sp>
        <p:nvSpPr>
          <p:cNvPr id="15" name="idead1"/>
          <p:cNvSpPr txBox="1"/>
          <p:nvPr/>
        </p:nvSpPr>
        <p:spPr>
          <a:xfrm>
            <a:off x="3575304" y="3429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Dice por qué, en palabras simples: «el WiFi empeora día a día», «firmware con fallas conocidas».</a:t>
            </a:r>
            <a:endParaRPr lang="en-US" sz="1400" dirty="0"/>
          </a:p>
        </p:txBody>
      </p:sp>
      <p:sp>
        <p:nvSpPr>
          <p:cNvPr id="16" name="idea2"/>
          <p:cNvSpPr/>
          <p:nvPr/>
        </p:nvSpPr>
        <p:spPr>
          <a:xfrm>
            <a:off x="6144768" y="2514600"/>
            <a:ext cx="26974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7" name="idean2"/>
          <p:cNvSpPr/>
          <p:nvPr/>
        </p:nvSpPr>
        <p:spPr>
          <a:xfrm>
            <a:off x="6373368" y="2724912"/>
            <a:ext cx="566928" cy="566928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/>
            </a:solidFill>
            <a:prstDash val="solid"/>
          </a:ln>
        </p:spPr>
      </p:sp>
      <p:sp>
        <p:nvSpPr>
          <p:cNvPr id="18" name="idean2-t"/>
          <p:cNvSpPr txBox="1"/>
          <p:nvPr/>
        </p:nvSpPr>
        <p:spPr>
          <a:xfrm>
            <a:off x="6373368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3</a:t>
            </a:r>
            <a:endParaRPr lang="en-US" sz="1900" dirty="0"/>
          </a:p>
        </p:txBody>
      </p:sp>
      <p:sp>
        <p:nvSpPr>
          <p:cNvPr id="19" name="ideat2"/>
          <p:cNvSpPr txBox="1"/>
          <p:nvPr/>
        </p:nvSpPr>
        <p:spPr>
          <a:xfrm>
            <a:off x="7059168" y="27249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Resuelve</a:t>
            </a:r>
            <a:endParaRPr lang="en-US" sz="2400" dirty="0"/>
          </a:p>
        </p:txBody>
      </p:sp>
      <p:sp>
        <p:nvSpPr>
          <p:cNvPr id="20" name="idead2"/>
          <p:cNvSpPr txBox="1"/>
          <p:nvPr/>
        </p:nvSpPr>
        <p:spPr>
          <a:xfrm>
            <a:off x="6373368" y="3429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Si es WiFi o firmware, se corrige a distancia y llega un WhatsApp. Si es físico, el técnico va una vez y con diagnóstico.</a:t>
            </a:r>
            <a:endParaRPr lang="en-US" sz="1400" dirty="0"/>
          </a:p>
        </p:txBody>
      </p:sp>
      <p:sp>
        <p:nvSpPr>
          <p:cNvPr id="21" name="idea3"/>
          <p:cNvSpPr/>
          <p:nvPr/>
        </p:nvSpPr>
        <p:spPr>
          <a:xfrm>
            <a:off x="8942832" y="2514600"/>
            <a:ext cx="26974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22" name="idean3"/>
          <p:cNvSpPr/>
          <p:nvPr/>
        </p:nvSpPr>
        <p:spPr>
          <a:xfrm>
            <a:off x="9171432" y="2724912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3" name="idean3-t"/>
          <p:cNvSpPr txBox="1"/>
          <p:nvPr/>
        </p:nvSpPr>
        <p:spPr>
          <a:xfrm>
            <a:off x="9171432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4</a:t>
            </a:r>
            <a:endParaRPr lang="en-US" sz="1900" dirty="0"/>
          </a:p>
        </p:txBody>
      </p:sp>
      <p:sp>
        <p:nvSpPr>
          <p:cNvPr id="24" name="ideat3"/>
          <p:cNvSpPr txBox="1"/>
          <p:nvPr/>
        </p:nvSpPr>
        <p:spPr>
          <a:xfrm>
            <a:off x="9857232" y="27249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Mide</a:t>
            </a:r>
            <a:endParaRPr lang="en-US" sz="2400" dirty="0"/>
          </a:p>
        </p:txBody>
      </p:sp>
      <p:sp>
        <p:nvSpPr>
          <p:cNvPr id="25" name="idead3"/>
          <p:cNvSpPr txBox="1"/>
          <p:nvPr/>
        </p:nvSpPr>
        <p:spPr>
          <a:xfrm>
            <a:off x="9171432" y="3429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Un 15 % de control al azar no recibe la acción: así se prueba el efecto real, no se supone.</a:t>
            </a:r>
            <a:endParaRPr lang="en-US" sz="1400" dirty="0"/>
          </a:p>
        </p:txBody>
      </p:sp>
      <p:sp>
        <p:nvSpPr>
          <p:cNvPr id="26" name="movil"/>
          <p:cNvSpPr/>
          <p:nvPr/>
        </p:nvSpPr>
        <p:spPr>
          <a:xfrm>
            <a:off x="548640" y="5349240"/>
            <a:ext cx="544068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movil-t"/>
          <p:cNvSpPr txBox="1"/>
          <p:nvPr/>
        </p:nvSpPr>
        <p:spPr>
          <a:xfrm>
            <a:off x="777240" y="5349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629"/>
                </a:solidFill>
              </a:rPr>
              <a:t>El mismo motor en Móvil: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cuando cae un sitio, aviso por WhatsApp o SMS antes de que llamen.</a:t>
            </a:r>
            <a:endParaRPr lang="en-US" sz="1500" dirty="0"/>
          </a:p>
        </p:txBody>
      </p:sp>
      <p:sp>
        <p:nvSpPr>
          <p:cNvPr id="28" name="tecno"/>
          <p:cNvSpPr/>
          <p:nvPr/>
        </p:nvSpPr>
        <p:spPr>
          <a:xfrm>
            <a:off x="6199632" y="5349240"/>
            <a:ext cx="544068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tecno-t"/>
          <p:cNvSpPr txBox="1"/>
          <p:nvPr/>
        </p:nvSpPr>
        <p:spPr>
          <a:xfrm>
            <a:off x="6428232" y="5349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629"/>
                </a:solidFill>
              </a:rPr>
              <a:t>IA: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modelo predictivo calibrado, explicación por variable y Claude redacta los mensajes con controles.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Nuestra idea con IA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Así se ve en el prototipo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 hogar del modelo: la IA lo marca 4 días antes de la llamada</a:t>
            </a:r>
            <a:endParaRPr lang="en-US" sz="3000" dirty="0"/>
          </a:p>
        </p:txBody>
      </p:sp>
      <p:sp>
        <p:nvSpPr>
          <p:cNvPr id="6" name="marco"/>
          <p:cNvSpPr/>
          <p:nvPr/>
        </p:nvSpPr>
        <p:spPr>
          <a:xfrm>
            <a:off x="502920" y="2377440"/>
            <a:ext cx="6858000" cy="3858768"/>
          </a:xfrm>
          <a:prstGeom prst="roundRect">
            <a:avLst>
              <a:gd name="adj" fmla="val 1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pic>
        <p:nvPicPr>
          <p:cNvPr id="7" name="captura" descr="Pantalla Hogar en vivo del prototipo Tigo Predic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23160"/>
            <a:ext cx="6766560" cy="3767328"/>
          </a:xfrm>
          <a:prstGeom prst="rect">
            <a:avLst/>
          </a:prstGeom>
        </p:spPr>
      </p:pic>
      <p:sp>
        <p:nvSpPr>
          <p:cNvPr id="8" name="d0"/>
          <p:cNvSpPr/>
          <p:nvPr/>
        </p:nvSpPr>
        <p:spPr>
          <a:xfrm>
            <a:off x="7680960" y="2441448"/>
            <a:ext cx="438912" cy="43891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d0-t"/>
          <p:cNvSpPr txBox="1"/>
          <p:nvPr/>
        </p:nvSpPr>
        <p:spPr>
          <a:xfrm>
            <a:off x="7680960" y="2441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dt0"/>
          <p:cNvSpPr txBox="1"/>
          <p:nvPr/>
        </p:nvSpPr>
        <p:spPr>
          <a:xfrm>
            <a:off x="8275320" y="239572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28/09: la IA lo marca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entra al 2 % de mayor riesgo</a:t>
            </a:r>
            <a:endParaRPr lang="en-US" sz="1600" dirty="0"/>
          </a:p>
        </p:txBody>
      </p:sp>
      <p:sp>
        <p:nvSpPr>
          <p:cNvPr id="11" name="d1"/>
          <p:cNvSpPr/>
          <p:nvPr/>
        </p:nvSpPr>
        <p:spPr>
          <a:xfrm>
            <a:off x="7680960" y="3209544"/>
            <a:ext cx="438912" cy="43891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d1-t"/>
          <p:cNvSpPr txBox="1"/>
          <p:nvPr/>
        </p:nvSpPr>
        <p:spPr>
          <a:xfrm>
            <a:off x="768096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dt1"/>
          <p:cNvSpPr txBox="1"/>
          <p:nvPr/>
        </p:nvSpPr>
        <p:spPr>
          <a:xfrm>
            <a:off x="8275320" y="316382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Explica el porqué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el WiFi empeora día a día</a:t>
            </a:r>
            <a:endParaRPr lang="en-US" sz="1600" dirty="0"/>
          </a:p>
        </p:txBody>
      </p:sp>
      <p:sp>
        <p:nvSpPr>
          <p:cNvPr id="14" name="d2"/>
          <p:cNvSpPr/>
          <p:nvPr/>
        </p:nvSpPr>
        <p:spPr>
          <a:xfrm>
            <a:off x="7680960" y="3977640"/>
            <a:ext cx="438912" cy="43891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d2-t"/>
          <p:cNvSpPr txBox="1"/>
          <p:nvPr/>
        </p:nvSpPr>
        <p:spPr>
          <a:xfrm>
            <a:off x="7680960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dt2"/>
          <p:cNvSpPr txBox="1"/>
          <p:nvPr/>
        </p:nvSpPr>
        <p:spPr>
          <a:xfrm>
            <a:off x="8275320" y="39319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 corrige a distancia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y llega un WhatsApp al cliente</a:t>
            </a:r>
            <a:endParaRPr lang="en-US" sz="1600" dirty="0"/>
          </a:p>
        </p:txBody>
      </p:sp>
      <p:sp>
        <p:nvSpPr>
          <p:cNvPr id="17" name="d3"/>
          <p:cNvSpPr/>
          <p:nvPr/>
        </p:nvSpPr>
        <p:spPr>
          <a:xfrm>
            <a:off x="7680960" y="4745736"/>
            <a:ext cx="438912" cy="43891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d3-t"/>
          <p:cNvSpPr txBox="1"/>
          <p:nvPr/>
        </p:nvSpPr>
        <p:spPr>
          <a:xfrm>
            <a:off x="7680960" y="4745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dt3"/>
          <p:cNvSpPr txBox="1"/>
          <p:nvPr/>
        </p:nvSpPr>
        <p:spPr>
          <a:xfrm>
            <a:off x="8275320" y="470001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02/10: habría llamado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la regla alarmaba recién el 03/10</a:t>
            </a:r>
            <a:endParaRPr lang="en-US" sz="1600" dirty="0"/>
          </a:p>
        </p:txBody>
      </p:sp>
      <p:sp>
        <p:nvSpPr>
          <p:cNvPr id="20" name="d4"/>
          <p:cNvSpPr/>
          <p:nvPr/>
        </p:nvSpPr>
        <p:spPr>
          <a:xfrm>
            <a:off x="7680960" y="5513832"/>
            <a:ext cx="438912" cy="438912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/>
            </a:solidFill>
            <a:prstDash val="solid"/>
          </a:ln>
        </p:spPr>
      </p:sp>
      <p:sp>
        <p:nvSpPr>
          <p:cNvPr id="21" name="d4-t"/>
          <p:cNvSpPr txBox="1"/>
          <p:nvPr/>
        </p:nvSpPr>
        <p:spPr>
          <a:xfrm>
            <a:off x="7680960" y="5513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dt4"/>
          <p:cNvSpPr txBox="1"/>
          <p:nvPr/>
        </p:nvSpPr>
        <p:spPr>
          <a:xfrm>
            <a:off x="8275320" y="546811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Visita evitada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L 780 de ahorro por L 0.31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Nuestra idea con IA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¿Por qué IA y no una regla?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En la simulación, anticipa el doble que las alarmas de hoy</a:t>
            </a:r>
            <a:endParaRPr lang="en-US" sz="3000" dirty="0"/>
          </a:p>
        </p:txBody>
      </p:sp>
      <p:sp>
        <p:nvSpPr>
          <p:cNvPr id="6" name="graf-fondo"/>
          <p:cNvSpPr/>
          <p:nvPr/>
        </p:nvSpPr>
        <p:spPr>
          <a:xfrm>
            <a:off x="548640" y="2468880"/>
            <a:ext cx="6400800" cy="3703320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graphicFrame>
        <p:nvGraphicFramePr>
          <p:cNvPr id="7" name="graf-modelo" descr=""/>
          <p:cNvGraphicFramePr/>
          <p:nvPr/>
        </p:nvGraphicFramePr>
        <p:xfrm>
          <a:off x="685800" y="2560320"/>
          <a:ext cx="6126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pq0"/>
          <p:cNvSpPr/>
          <p:nvPr/>
        </p:nvSpPr>
        <p:spPr>
          <a:xfrm>
            <a:off x="7223760" y="2468880"/>
            <a:ext cx="4416552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pqt0"/>
          <p:cNvSpPr txBox="1"/>
          <p:nvPr/>
        </p:nvSpPr>
        <p:spPr>
          <a:xfrm>
            <a:off x="7452360" y="257860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FFC629"/>
                </a:solidFill>
              </a:rPr>
              <a:t>2.0× lo que ve la regla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La IA anticipa 52 % de las visitas evitables; la alarma por umbral, 26 %.</a:t>
            </a:r>
            <a:endParaRPr lang="en-US" sz="1600" dirty="0"/>
          </a:p>
        </p:txBody>
      </p:sp>
      <p:sp>
        <p:nvSpPr>
          <p:cNvPr id="10" name="pq1"/>
          <p:cNvSpPr/>
          <p:nvPr/>
        </p:nvSpPr>
        <p:spPr>
          <a:xfrm>
            <a:off x="7223760" y="3730752"/>
            <a:ext cx="4416552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pqt1"/>
          <p:cNvSpPr txBox="1"/>
          <p:nvPr/>
        </p:nvSpPr>
        <p:spPr>
          <a:xfrm>
            <a:off x="7452360" y="384048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FFFFFF"/>
                </a:solidFill>
              </a:rPr>
              <a:t>51 % sin ninguna alarma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La IA ve tendencias: la señal que baja, el WiFi que empeora. La regla ve cuando ya es tarde.</a:t>
            </a:r>
            <a:endParaRPr lang="en-US" sz="1600" dirty="0"/>
          </a:p>
        </p:txBody>
      </p:sp>
      <p:sp>
        <p:nvSpPr>
          <p:cNvPr id="12" name="pq2"/>
          <p:cNvSpPr/>
          <p:nvPr/>
        </p:nvSpPr>
        <p:spPr>
          <a:xfrm>
            <a:off x="7223760" y="4992624"/>
            <a:ext cx="4416552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pqt2"/>
          <p:cNvSpPr txBox="1"/>
          <p:nvPr/>
        </p:nvSpPr>
        <p:spPr>
          <a:xfrm>
            <a:off x="7452360" y="5102352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FFFFFF"/>
                </a:solidFill>
              </a:rPr>
              <a:t>Hipótesis, no promesa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Se valida con 3 meses de telemetría real en las semanas 0–2. Si no supera a la regla por 1.3×, se usa la regla.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Impacto esperado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¿Qué beneficio se obtiene?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 4.3 M netos el año 1, con costos reales de Honduras</a:t>
            </a:r>
            <a:endParaRPr lang="en-US" sz="3000" dirty="0"/>
          </a:p>
        </p:txBody>
      </p:sp>
      <p:sp>
        <p:nvSpPr>
          <p:cNvPr id="6" name="imp0"/>
          <p:cNvSpPr/>
          <p:nvPr/>
        </p:nvSpPr>
        <p:spPr>
          <a:xfrm>
            <a:off x="548640" y="246888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C629"/>
          </a:solidFill>
          <a:ln w="12700">
            <a:solidFill>
              <a:srgbClr val="FFC62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7" name="impv0"/>
          <p:cNvSpPr txBox="1"/>
          <p:nvPr/>
        </p:nvSpPr>
        <p:spPr>
          <a:xfrm>
            <a:off x="777240" y="2578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F5C"/>
                </a:solidFill>
              </a:rPr>
              <a:t>L 4.3 M</a:t>
            </a:r>
            <a:endParaRPr lang="en-US" sz="4000" dirty="0"/>
          </a:p>
        </p:txBody>
      </p:sp>
      <p:sp>
        <p:nvSpPr>
          <p:cNvPr id="8" name="impe0"/>
          <p:cNvSpPr txBox="1"/>
          <p:nvPr/>
        </p:nvSpPr>
        <p:spPr>
          <a:xfrm>
            <a:off x="777240" y="3310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5C"/>
                </a:solidFill>
              </a:rPr>
              <a:t>netos en el año 1 (escenario base, ya descontada la inversión)</a:t>
            </a:r>
            <a:endParaRPr lang="en-US" sz="1400" dirty="0"/>
          </a:p>
        </p:txBody>
      </p:sp>
      <p:sp>
        <p:nvSpPr>
          <p:cNvPr id="9" name="imp1"/>
          <p:cNvSpPr/>
          <p:nvPr/>
        </p:nvSpPr>
        <p:spPr>
          <a:xfrm>
            <a:off x="3346704" y="246888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0" name="impv1"/>
          <p:cNvSpPr txBox="1"/>
          <p:nvPr/>
        </p:nvSpPr>
        <p:spPr>
          <a:xfrm>
            <a:off x="3575304" y="2578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2B8"/>
                </a:solidFill>
              </a:rPr>
              <a:t>3,300</a:t>
            </a:r>
            <a:endParaRPr lang="en-US" sz="4000" dirty="0"/>
          </a:p>
        </p:txBody>
      </p:sp>
      <p:sp>
        <p:nvSpPr>
          <p:cNvPr id="11" name="impe1"/>
          <p:cNvSpPr txBox="1"/>
          <p:nvPr/>
        </p:nvSpPr>
        <p:spPr>
          <a:xfrm>
            <a:off x="3575304" y="3310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visitas técnicas evitadas al año</a:t>
            </a:r>
            <a:endParaRPr lang="en-US" sz="1400" dirty="0"/>
          </a:p>
        </p:txBody>
      </p:sp>
      <p:sp>
        <p:nvSpPr>
          <p:cNvPr id="12" name="imp2"/>
          <p:cNvSpPr/>
          <p:nvPr/>
        </p:nvSpPr>
        <p:spPr>
          <a:xfrm>
            <a:off x="6144768" y="246888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3" name="impv2"/>
          <p:cNvSpPr txBox="1"/>
          <p:nvPr/>
        </p:nvSpPr>
        <p:spPr>
          <a:xfrm>
            <a:off x="6373368" y="2578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2B8"/>
                </a:solidFill>
              </a:rPr>
              <a:t>116,600</a:t>
            </a:r>
            <a:endParaRPr lang="en-US" sz="4000" dirty="0"/>
          </a:p>
        </p:txBody>
      </p:sp>
      <p:sp>
        <p:nvSpPr>
          <p:cNvPr id="14" name="impe2"/>
          <p:cNvSpPr txBox="1"/>
          <p:nvPr/>
        </p:nvSpPr>
        <p:spPr>
          <a:xfrm>
            <a:off x="6373368" y="3310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llamadas menos al call center al año (Hogar + Móvil)</a:t>
            </a:r>
            <a:endParaRPr lang="en-US" sz="1400" dirty="0"/>
          </a:p>
        </p:txBody>
      </p:sp>
      <p:sp>
        <p:nvSpPr>
          <p:cNvPr id="15" name="imp3"/>
          <p:cNvSpPr/>
          <p:nvPr/>
        </p:nvSpPr>
        <p:spPr>
          <a:xfrm>
            <a:off x="8942832" y="246888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6" name="impv3"/>
          <p:cNvSpPr txBox="1"/>
          <p:nvPr/>
        </p:nvSpPr>
        <p:spPr>
          <a:xfrm>
            <a:off x="9171432" y="2578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2B8"/>
                </a:solidFill>
              </a:rPr>
              <a:t>12 %</a:t>
            </a:r>
            <a:endParaRPr lang="en-US" sz="4000" dirty="0"/>
          </a:p>
        </p:txBody>
      </p:sp>
      <p:sp>
        <p:nvSpPr>
          <p:cNvPr id="17" name="impe3"/>
          <p:cNvSpPr txBox="1"/>
          <p:nvPr/>
        </p:nvSpPr>
        <p:spPr>
          <a:xfrm>
            <a:off x="9171432" y="3310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menos llamadas y Móvil se paga en el año 1 (Hogar: 22 %)</a:t>
            </a:r>
            <a:endParaRPr lang="en-US" sz="1400" dirty="0"/>
          </a:p>
        </p:txBody>
      </p:sp>
      <p:sp>
        <p:nvSpPr>
          <p:cNvPr id="18" name="ben0"/>
          <p:cNvSpPr/>
          <p:nvPr/>
        </p:nvSpPr>
        <p:spPr>
          <a:xfrm>
            <a:off x="548640" y="4389120"/>
            <a:ext cx="3630168" cy="1783080"/>
          </a:xfrm>
          <a:prstGeom prst="roundRect">
            <a:avLst>
              <a:gd name="adj" fmla="val 717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bent0"/>
          <p:cNvSpPr txBox="1"/>
          <p:nvPr/>
        </p:nvSpPr>
        <p:spPr>
          <a:xfrm>
            <a:off x="777240" y="45262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CC9F0"/>
                </a:solidFill>
              </a:rPr>
              <a:t>Para el cliente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No pierde el servicio, no llama y no espera al técnico. Recibe un WhatsApp: «ya lo corregimos».</a:t>
            </a:r>
            <a:endParaRPr lang="en-US" sz="1600" dirty="0"/>
          </a:p>
        </p:txBody>
      </p:sp>
      <p:sp>
        <p:nvSpPr>
          <p:cNvPr id="20" name="ben1"/>
          <p:cNvSpPr/>
          <p:nvPr/>
        </p:nvSpPr>
        <p:spPr>
          <a:xfrm>
            <a:off x="4279392" y="4389120"/>
            <a:ext cx="3630168" cy="1783080"/>
          </a:xfrm>
          <a:prstGeom prst="roundRect">
            <a:avLst>
              <a:gd name="adj" fmla="val 717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bent1"/>
          <p:cNvSpPr txBox="1"/>
          <p:nvPr/>
        </p:nvSpPr>
        <p:spPr>
          <a:xfrm>
            <a:off x="4507992" y="45262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CC9F0"/>
                </a:solidFill>
              </a:rPr>
              <a:t>Para agentes y técnicos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Menos llamadas repetidas. Las visitas que sí van, van una sola vez y con el diagnóstico.</a:t>
            </a:r>
            <a:endParaRPr lang="en-US" sz="1600" dirty="0"/>
          </a:p>
        </p:txBody>
      </p:sp>
      <p:sp>
        <p:nvSpPr>
          <p:cNvPr id="22" name="ben2"/>
          <p:cNvSpPr/>
          <p:nvPr/>
        </p:nvSpPr>
        <p:spPr>
          <a:xfrm>
            <a:off x="8010144" y="4389120"/>
            <a:ext cx="3630168" cy="1783080"/>
          </a:xfrm>
          <a:prstGeom prst="roundRect">
            <a:avLst>
              <a:gd name="adj" fmla="val 717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bent2"/>
          <p:cNvSpPr txBox="1"/>
          <p:nvPr/>
        </p:nvSpPr>
        <p:spPr>
          <a:xfrm>
            <a:off x="8238744" y="45262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CC9F0"/>
                </a:solidFill>
              </a:rPr>
              <a:t>Para Tigo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Menos costo y mejor NPS. La retención (L 3.4 M al año) ni siquiera entra en el caso.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Impacto esperado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¿Y si los supuestos fallan?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Si todo sale mal se pierden L 3 M: por eso, primero un piloto</a:t>
            </a:r>
            <a:endParaRPr lang="en-US" sz="3000" dirty="0"/>
          </a:p>
        </p:txBody>
      </p:sp>
      <p:sp>
        <p:nvSpPr>
          <p:cNvPr id="6" name="esc-fondo"/>
          <p:cNvSpPr/>
          <p:nvPr/>
        </p:nvSpPr>
        <p:spPr>
          <a:xfrm>
            <a:off x="548640" y="2468880"/>
            <a:ext cx="6309360" cy="3703320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graphicFrame>
        <p:nvGraphicFramePr>
          <p:cNvPr id="7" name="grafico" descr=""/>
          <p:cNvGraphicFramePr/>
          <p:nvPr/>
        </p:nvGraphicFramePr>
        <p:xfrm>
          <a:off x="685800" y="2560320"/>
          <a:ext cx="60350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piloto"/>
          <p:cNvSpPr/>
          <p:nvPr/>
        </p:nvSpPr>
        <p:spPr>
          <a:xfrm>
            <a:off x="7132320" y="2468880"/>
            <a:ext cx="4507992" cy="3703320"/>
          </a:xfrm>
          <a:prstGeom prst="roundRect">
            <a:avLst>
              <a:gd name="adj" fmla="val 34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pil-t"/>
          <p:cNvSpPr txBox="1"/>
          <p:nvPr/>
        </p:nvSpPr>
        <p:spPr>
          <a:xfrm>
            <a:off x="736092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F0"/>
                </a:solidFill>
              </a:rPr>
              <a:t>Piloto Hogar simulado: tratados vs. control</a:t>
            </a:r>
            <a:endParaRPr lang="en-US" sz="1600" dirty="0"/>
          </a:p>
        </p:txBody>
      </p:sp>
      <p:sp>
        <p:nvSpPr>
          <p:cNvPr id="10" name="pil-c"/>
          <p:cNvSpPr txBox="1"/>
          <p:nvPr/>
        </p:nvSpPr>
        <p:spPr>
          <a:xfrm>
            <a:off x="7360920" y="3017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5C54"/>
                </a:solidFill>
              </a:rPr>
              <a:t>414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5FB"/>
                </a:solidFill>
              </a:rPr>
              <a:t>visitas por 1,000 hogares marcados sin acción</a:t>
            </a:r>
            <a:endParaRPr lang="en-US" sz="1600" dirty="0"/>
          </a:p>
        </p:txBody>
      </p:sp>
      <p:sp>
        <p:nvSpPr>
          <p:cNvPr id="11" name="pil-t2"/>
          <p:cNvSpPr txBox="1"/>
          <p:nvPr/>
        </p:nvSpPr>
        <p:spPr>
          <a:xfrm>
            <a:off x="9509760" y="3017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BB673"/>
                </a:solidFill>
              </a:rPr>
              <a:t>336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5FB"/>
                </a:solidFill>
              </a:rPr>
              <a:t>con atención proactiva</a:t>
            </a:r>
            <a:endParaRPr lang="en-US" sz="1600" dirty="0"/>
          </a:p>
        </p:txBody>
      </p:sp>
      <p:sp>
        <p:nvSpPr>
          <p:cNvPr id="12" name="pil-r"/>
          <p:cNvSpPr txBox="1"/>
          <p:nvPr/>
        </p:nvSpPr>
        <p:spPr>
          <a:xfrm>
            <a:off x="7360920" y="42976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</a:rPr>
              <a:t>−19 % visitas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IC 95 %: 12 % a 25 % · llamadas técnicas −56 %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9FB2F0"/>
                </a:solidFill>
              </a:rPr>
              <a:t>Simulado: muestra cómo se medirá, no promete un número.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Por qué ahora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Estrategia de Millicom 2026 y regulación vigente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Lo pide la estrategia de Tigo y ya lo exige CONATEL</a:t>
            </a:r>
            <a:endParaRPr lang="en-US" sz="3000" dirty="0"/>
          </a:p>
        </p:txBody>
      </p:sp>
      <p:sp>
        <p:nvSpPr>
          <p:cNvPr id="6" name="millicom"/>
          <p:cNvSpPr/>
          <p:nvPr/>
        </p:nvSpPr>
        <p:spPr>
          <a:xfrm>
            <a:off x="548640" y="2468880"/>
            <a:ext cx="5440680" cy="3703320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7" name="millicom-t"/>
          <p:cNvSpPr txBox="1"/>
          <p:nvPr/>
        </p:nvSpPr>
        <p:spPr>
          <a:xfrm>
            <a:off x="822960" y="26517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0B1F5C"/>
                </a:solidFill>
              </a:rPr>
              <a:t>Prioridades de Millicom en 2026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Mejor servicio: el cliente no sufre la falla ni tiene que llamar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Eficiencia y flujo de caja: menos visitas y llamadas, sin inversión en red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Crecer en valor: protege el hogar y a los clientes convergentes, que tienen cerca de la mitad del churn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Simplicidad: empieza con archivos diarios del ACS, el NOC y el call center</a:t>
            </a:r>
            <a:endParaRPr lang="en-US" sz="1500" dirty="0"/>
          </a:p>
        </p:txBody>
      </p:sp>
      <p:sp>
        <p:nvSpPr>
          <p:cNvPr id="8" name="conatel"/>
          <p:cNvSpPr/>
          <p:nvPr/>
        </p:nvSpPr>
        <p:spPr>
          <a:xfrm>
            <a:off x="6199632" y="2468880"/>
            <a:ext cx="5440680" cy="3703320"/>
          </a:xfrm>
          <a:prstGeom prst="roundRect">
            <a:avLst>
              <a:gd name="adj" fmla="val 3457"/>
            </a:avLst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9" name="conatel-t"/>
          <p:cNvSpPr txBox="1"/>
          <p:nvPr/>
        </p:nvSpPr>
        <p:spPr>
          <a:xfrm>
            <a:off x="6473952" y="26517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4CC9F0"/>
                </a:solidFill>
              </a:rPr>
              <a:t>Reglamento NR001/26 de CONATEL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5FB"/>
                </a:solidFill>
              </a:rPr>
              <a:t>La Gaceta, 28 de febrero de 2026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Art. 39 (15): avisar a tiempo de averías e interrupciones y su plazo de normalización, por SMS y otros medios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Art. 5 (10): compensación automática y reporte de la duración y las zonas de cada falla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Art. 5 (17 y 18): con 10 días sin resolver o más de 24 h sin servicio al mes, el cliente se va sin penalidad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Plan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¿Cómo lo hacemos realidad?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Piloto de 12 semanas en San Pedro Sula, con GO / NO-GO medible</a:t>
            </a:r>
            <a:endParaRPr lang="en-US" sz="3000" dirty="0"/>
          </a:p>
        </p:txBody>
      </p:sp>
      <p:sp>
        <p:nvSpPr>
          <p:cNvPr id="6" name="f0"/>
          <p:cNvSpPr/>
          <p:nvPr/>
        </p:nvSpPr>
        <p:spPr>
          <a:xfrm>
            <a:off x="548640" y="2487168"/>
            <a:ext cx="603504" cy="6035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f0-t"/>
          <p:cNvSpPr txBox="1"/>
          <p:nvPr/>
        </p:nvSpPr>
        <p:spPr>
          <a:xfrm>
            <a:off x="548640" y="24871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5C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ft0"/>
          <p:cNvSpPr txBox="1"/>
          <p:nvPr/>
        </p:nvSpPr>
        <p:spPr>
          <a:xfrm>
            <a:off x="1298448" y="24505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5FB"/>
                </a:solidFill>
              </a:rPr>
              <a:t>Semanas 0–2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Preparación</a:t>
            </a:r>
            <a:endParaRPr lang="en-US" sz="1600" dirty="0"/>
          </a:p>
        </p:txBody>
      </p:sp>
      <p:sp>
        <p:nvSpPr>
          <p:cNvPr id="9" name="fd0"/>
          <p:cNvSpPr txBox="1"/>
          <p:nvPr/>
        </p:nvSpPr>
        <p:spPr>
          <a:xfrm>
            <a:off x="548640" y="3246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Datos del ACS, NOC, CRM, call center y campo por archivo diario. Prueba retrospectiva IA vs. regla.</a:t>
            </a:r>
            <a:endParaRPr lang="en-US" sz="1400" dirty="0"/>
          </a:p>
        </p:txBody>
      </p:sp>
      <p:sp>
        <p:nvSpPr>
          <p:cNvPr id="10" name="f1"/>
          <p:cNvSpPr/>
          <p:nvPr/>
        </p:nvSpPr>
        <p:spPr>
          <a:xfrm>
            <a:off x="4279392" y="2487168"/>
            <a:ext cx="603504" cy="6035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f1-t"/>
          <p:cNvSpPr txBox="1"/>
          <p:nvPr/>
        </p:nvSpPr>
        <p:spPr>
          <a:xfrm>
            <a:off x="4279392" y="24871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5C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ft1"/>
          <p:cNvSpPr txBox="1"/>
          <p:nvPr/>
        </p:nvSpPr>
        <p:spPr>
          <a:xfrm>
            <a:off x="5029200" y="24505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5FB"/>
                </a:solidFill>
              </a:rPr>
              <a:t>Semanas 3–10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Piloto en vivo</a:t>
            </a:r>
            <a:endParaRPr lang="en-US" sz="1600" dirty="0"/>
          </a:p>
        </p:txBody>
      </p:sp>
      <p:sp>
        <p:nvSpPr>
          <p:cNvPr id="13" name="fd1"/>
          <p:cNvSpPr txBox="1"/>
          <p:nvPr/>
        </p:nvSpPr>
        <p:spPr>
          <a:xfrm>
            <a:off x="4279392" y="3246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La IA marca el 2 % semanal y soporte corrige a distancia. Avisos en fallas masivas. 15 % de control.</a:t>
            </a:r>
            <a:endParaRPr lang="en-US" sz="1400" dirty="0"/>
          </a:p>
        </p:txBody>
      </p:sp>
      <p:sp>
        <p:nvSpPr>
          <p:cNvPr id="14" name="f2"/>
          <p:cNvSpPr/>
          <p:nvPr/>
        </p:nvSpPr>
        <p:spPr>
          <a:xfrm>
            <a:off x="8010144" y="2487168"/>
            <a:ext cx="603504" cy="6035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f2-t"/>
          <p:cNvSpPr txBox="1"/>
          <p:nvPr/>
        </p:nvSpPr>
        <p:spPr>
          <a:xfrm>
            <a:off x="8010144" y="24871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5C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ft2"/>
          <p:cNvSpPr txBox="1"/>
          <p:nvPr/>
        </p:nvSpPr>
        <p:spPr>
          <a:xfrm>
            <a:off x="8759952" y="24505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5FB"/>
                </a:solidFill>
              </a:rPr>
              <a:t>Semanas 11–12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Decisión</a:t>
            </a:r>
            <a:endParaRPr lang="en-US" sz="1600" dirty="0"/>
          </a:p>
        </p:txBody>
      </p:sp>
      <p:sp>
        <p:nvSpPr>
          <p:cNvPr id="17" name="fd2"/>
          <p:cNvSpPr txBox="1"/>
          <p:nvPr/>
        </p:nvSpPr>
        <p:spPr>
          <a:xfrm>
            <a:off x="8010144" y="3246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Efecto con intervalo de confianza, costo real por visita y llamada evitada, y GO / NO-GO por frente.</a:t>
            </a:r>
            <a:endParaRPr lang="en-US" sz="1400" dirty="0"/>
          </a:p>
        </p:txBody>
      </p:sp>
      <p:sp>
        <p:nvSpPr>
          <p:cNvPr id="18" name="go"/>
          <p:cNvSpPr/>
          <p:nvPr/>
        </p:nvSpPr>
        <p:spPr>
          <a:xfrm>
            <a:off x="548640" y="4434840"/>
            <a:ext cx="544068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9" name="go-t"/>
          <p:cNvSpPr txBox="1"/>
          <p:nvPr/>
        </p:nvSpPr>
        <p:spPr>
          <a:xfrm>
            <a:off x="777240" y="4544568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2BB673"/>
                </a:solidFill>
              </a:rPr>
              <a:t>GO si…</a:t>
            </a:r>
            <a:endParaRPr lang="en-US" sz="14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las visitas bajan 15 % o más (llamadas 12 % en Móvil), con significancia</a:t>
            </a:r>
            <a:endParaRPr lang="en-US" sz="14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menos de 2 % de clientes pide no recibir mensajes</a:t>
            </a:r>
            <a:endParaRPr lang="en-US" sz="14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la IA supera a la regla por 1.3× (si no, se usa la regla)</a:t>
            </a:r>
            <a:endParaRPr lang="en-US" sz="1400" dirty="0"/>
          </a:p>
        </p:txBody>
      </p:sp>
      <p:sp>
        <p:nvSpPr>
          <p:cNvPr id="20" name="seg"/>
          <p:cNvSpPr/>
          <p:nvPr/>
        </p:nvSpPr>
        <p:spPr>
          <a:xfrm>
            <a:off x="6199632" y="4434840"/>
            <a:ext cx="5440680" cy="1737360"/>
          </a:xfrm>
          <a:prstGeom prst="roundRect">
            <a:avLst>
              <a:gd name="adj" fmla="val 7368"/>
            </a:avLst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21" name="seg-t"/>
          <p:cNvSpPr txBox="1"/>
          <p:nvPr/>
        </p:nvSpPr>
        <p:spPr>
          <a:xfrm>
            <a:off x="6428232" y="4544568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4CC9F0"/>
                </a:solidFill>
              </a:rPr>
              <a:t>Privacidad y seguridad desde el día 1</a:t>
            </a:r>
            <a:endParaRPr lang="en-US" sz="14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Solo datos técnicos del módem y la línea: nunca contenido ni navegación</a:t>
            </a:r>
            <a:endParaRPr lang="en-US" sz="14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GDPR como estándar, ISO 27001/27701/42001 y OWASP</a:t>
            </a:r>
            <a:endParaRPr lang="en-US" sz="14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Red team propio: 12 ataques probados y corregidos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El pedido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¿Qué necesitamos de los Sharks?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Una inversión acotada para decidir con datos reales de Tigo</a:t>
            </a:r>
            <a:endParaRPr lang="en-US" sz="3000" dirty="0"/>
          </a:p>
        </p:txBody>
      </p:sp>
      <p:sp>
        <p:nvSpPr>
          <p:cNvPr id="6" name="k0"/>
          <p:cNvSpPr/>
          <p:nvPr/>
        </p:nvSpPr>
        <p:spPr>
          <a:xfrm>
            <a:off x="548640" y="2487168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k0-t"/>
          <p:cNvSpPr txBox="1"/>
          <p:nvPr/>
        </p:nvSpPr>
        <p:spPr>
          <a:xfrm>
            <a:off x="54864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1</a:t>
            </a:r>
            <a:endParaRPr lang="en-US" sz="1900" dirty="0"/>
          </a:p>
        </p:txBody>
      </p:sp>
      <p:sp>
        <p:nvSpPr>
          <p:cNvPr id="8" name="kt0"/>
          <p:cNvSpPr txBox="1"/>
          <p:nvPr/>
        </p:nvSpPr>
        <p:spPr>
          <a:xfrm>
            <a:off x="1325880" y="244144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Datos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Archivos diarios del ACS, NOC, CRM, call center y órdenes de campo de San Pedro Sula</a:t>
            </a:r>
            <a:endParaRPr lang="en-US" sz="1600" dirty="0"/>
          </a:p>
        </p:txBody>
      </p:sp>
      <p:sp>
        <p:nvSpPr>
          <p:cNvPr id="9" name="k1"/>
          <p:cNvSpPr/>
          <p:nvPr/>
        </p:nvSpPr>
        <p:spPr>
          <a:xfrm>
            <a:off x="548640" y="3419856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k1-t"/>
          <p:cNvSpPr txBox="1"/>
          <p:nvPr/>
        </p:nvSpPr>
        <p:spPr>
          <a:xfrm>
            <a:off x="548640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2</a:t>
            </a:r>
            <a:endParaRPr lang="en-US" sz="1900" dirty="0"/>
          </a:p>
        </p:txBody>
      </p:sp>
      <p:sp>
        <p:nvSpPr>
          <p:cNvPr id="11" name="kt1"/>
          <p:cNvSpPr txBox="1"/>
          <p:nvPr/>
        </p:nvSpPr>
        <p:spPr>
          <a:xfrm>
            <a:off x="1325880" y="3374136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Equipo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Un patrocinador, enlaces de NOC e ingeniería de acceso, soporte N2 y un analista al 50 %</a:t>
            </a:r>
            <a:endParaRPr lang="en-US" sz="1600" dirty="0"/>
          </a:p>
        </p:txBody>
      </p:sp>
      <p:sp>
        <p:nvSpPr>
          <p:cNvPr id="12" name="k2"/>
          <p:cNvSpPr/>
          <p:nvPr/>
        </p:nvSpPr>
        <p:spPr>
          <a:xfrm>
            <a:off x="548640" y="4352544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k2-t"/>
          <p:cNvSpPr txBox="1"/>
          <p:nvPr/>
        </p:nvSpPr>
        <p:spPr>
          <a:xfrm>
            <a:off x="548640" y="4352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3</a:t>
            </a:r>
            <a:endParaRPr lang="en-US" sz="1900" dirty="0"/>
          </a:p>
        </p:txBody>
      </p:sp>
      <p:sp>
        <p:nvSpPr>
          <p:cNvPr id="14" name="kt2"/>
          <p:cNvSpPr txBox="1"/>
          <p:nvPr/>
        </p:nvSpPr>
        <p:spPr>
          <a:xfrm>
            <a:off x="1325880" y="430682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Canal y cumplimiento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Plantillas de WhatsApp Business y visto bueno de Legal y Seguridad</a:t>
            </a:r>
            <a:endParaRPr lang="en-US" sz="1600" dirty="0"/>
          </a:p>
        </p:txBody>
      </p:sp>
      <p:sp>
        <p:nvSpPr>
          <p:cNvPr id="15" name="k3"/>
          <p:cNvSpPr/>
          <p:nvPr/>
        </p:nvSpPr>
        <p:spPr>
          <a:xfrm>
            <a:off x="548640" y="5285232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6" name="k3-t"/>
          <p:cNvSpPr txBox="1"/>
          <p:nvPr/>
        </p:nvSpPr>
        <p:spPr>
          <a:xfrm>
            <a:off x="548640" y="5285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4</a:t>
            </a:r>
            <a:endParaRPr lang="en-US" sz="1900" dirty="0"/>
          </a:p>
        </p:txBody>
      </p:sp>
      <p:sp>
        <p:nvSpPr>
          <p:cNvPr id="17" name="kt3"/>
          <p:cNvSpPr txBox="1"/>
          <p:nvPr/>
        </p:nvSpPr>
        <p:spPr>
          <a:xfrm>
            <a:off x="1325880" y="523951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Decisión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En la semana 12, con números reales, ustedes deciden GO o NO-GO por frente</a:t>
            </a:r>
            <a:endParaRPr lang="en-US" sz="1600" dirty="0"/>
          </a:p>
        </p:txBody>
      </p:sp>
      <p:sp>
        <p:nvSpPr>
          <p:cNvPr id="18" name="inv"/>
          <p:cNvSpPr/>
          <p:nvPr/>
        </p:nvSpPr>
        <p:spPr>
          <a:xfrm>
            <a:off x="7452360" y="2468880"/>
            <a:ext cx="4187952" cy="3703320"/>
          </a:xfrm>
          <a:prstGeom prst="roundRect">
            <a:avLst>
              <a:gd name="adj" fmla="val 3457"/>
            </a:avLst>
          </a:prstGeom>
          <a:solidFill>
            <a:srgbClr val="FFC629"/>
          </a:solidFill>
          <a:ln w="12700">
            <a:solidFill>
              <a:srgbClr val="FFC62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9" name="inv-t"/>
          <p:cNvSpPr txBox="1"/>
          <p:nvPr/>
        </p:nvSpPr>
        <p:spPr>
          <a:xfrm>
            <a:off x="777240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Inversión del piloto</a:t>
            </a:r>
            <a:endParaRPr lang="en-US" sz="1900" dirty="0"/>
          </a:p>
        </p:txBody>
      </p:sp>
      <p:sp>
        <p:nvSpPr>
          <p:cNvPr id="20" name="inv-v"/>
          <p:cNvSpPr txBox="1"/>
          <p:nvPr/>
        </p:nvSpPr>
        <p:spPr>
          <a:xfrm>
            <a:off x="7772400" y="3108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1F5C"/>
                </a:solidFill>
              </a:rPr>
              <a:t>L 770 mil</a:t>
            </a:r>
            <a:endParaRPr lang="en-US" sz="5400" dirty="0"/>
          </a:p>
        </p:txBody>
      </p:sp>
      <p:sp>
        <p:nvSpPr>
          <p:cNvPr id="21" name="inv-r"/>
          <p:cNvSpPr txBox="1"/>
          <p:nvPr/>
        </p:nvSpPr>
        <p:spPr>
          <a:xfrm>
            <a:off x="777240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5C"/>
                </a:solidFill>
              </a:rPr>
              <a:t>≈ US$ 28 mil · 12 semanas · 2 frentes</a:t>
            </a:r>
            <a:endParaRPr lang="en-US" sz="1600" dirty="0"/>
          </a:p>
        </p:txBody>
      </p:sp>
      <p:sp>
        <p:nvSpPr>
          <p:cNvPr id="22" name="inv-n"/>
          <p:cNvSpPr txBox="1"/>
          <p:nvPr/>
        </p:nvSpPr>
        <p:spPr>
          <a:xfrm>
            <a:off x="7772400" y="46177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F5C"/>
                </a:solidFill>
              </a:rPr>
              <a:t>Si es GO, el escenario base deja L 4.3 M netos en el año 1 a nivel nacional.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Los chatbots atienden la llamada.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Tigo Predice evita que ocurra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4CC9F0"/>
                </a:solidFill>
              </a:rPr>
              <a:t>…y evita la visita.</a:t>
            </a:r>
            <a:endParaRPr lang="en-US" sz="3000" dirty="0"/>
          </a:p>
        </p:txBody>
      </p:sp>
      <p:sp>
        <p:nvSpPr>
          <p:cNvPr id="4" name="contacto"/>
          <p:cNvSpPr txBox="1"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Tigo Predice ·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Sandra Michel Jimenez Zelaya · sandra.jimenez@tigo.com.hn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Shark Tank - Tigo Predice">
  <a:themeElements>
    <a:clrScheme name="AI Shark Tank - Tigo Predice">
      <a:dk1>
        <a:srgbClr val="0B1F5C"/>
      </a:dk1>
      <a:lt1>
        <a:srgbClr val="FFFFFF"/>
      </a:lt1>
      <a:dk2>
        <a:srgbClr val="0A22B8"/>
      </a:dk2>
      <a:lt2>
        <a:srgbClr val="EEF3FD"/>
      </a:lt2>
      <a:accent1>
        <a:srgbClr val="0A22B8"/>
      </a:accent1>
      <a:accent2>
        <a:srgbClr val="4CC9F0"/>
      </a:accent2>
      <a:accent3>
        <a:srgbClr val="FFC629"/>
      </a:accent3>
      <a:accent4>
        <a:srgbClr val="1E5BBF"/>
      </a:accent4>
      <a:accent5>
        <a:srgbClr val="F25C54"/>
      </a:accent5>
      <a:accent6>
        <a:srgbClr val="2BB673"/>
      </a:accent6>
      <a:hlink>
        <a:srgbClr val="1E5BBF"/>
      </a:hlink>
      <a:folHlink>
        <a:srgbClr val="6A3FB5"/>
      </a:folHlink>
    </a:clrScheme>
    <a:fontScheme name="AI Shark Tank - Tigo Pred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Tigo Predice — AI Shark Tank · Tigo CX Month</dc:title>
  <dc:subject>PptxGenJS Presentation</dc:subject>
  <dc:creator>Sandra Michel Jimenez Zelaya</dc:creator>
  <cp:lastModifiedBy>Sandra Michel Jimenez Zelaya</cp:lastModifiedBy>
  <cp:revision>1</cp:revision>
  <dcterms:created xsi:type="dcterms:W3CDTF">2026-10-25T17:42:43Z</dcterms:created>
  <dcterms:modified xsi:type="dcterms:W3CDTF">2026-10-25T17:42:43Z</dcterms:modified>
</cp:coreProperties>
</file>