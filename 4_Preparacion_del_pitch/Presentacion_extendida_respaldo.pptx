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a8405294-51c1-6369-e4c0-c8c06dbf9909}">
          <p14:sldIdLst>
            <p14:sldId id="256"/>
          </p14:sldIdLst>
        </p14:section>
        <p14:section name="Problema" id="{0bf436b1-76ff-689f-7503-f0d2f5e4f44a}">
          <p14:sldIdLst>
            <p14:sldId id="257"/>
            <p14:sldId id="258"/>
          </p14:sldIdLst>
        </p14:section>
        <p14:section name="Solución" id="{83d2e311-1fb7-522a-b1a0-abf7658e99d2}">
          <p14:sldIdLst>
            <p14:sldId id="259"/>
          </p14:sldIdLst>
        </p14:section>
        <p14:section name="Demo" id="{368e3400-075a-d544-de1a-2abfa4fea473}">
          <p14:sldIdLst>
            <p14:sldId id="260"/>
            <p14:sldId id="261"/>
            <p14:sldId id="262"/>
            <p14:sldId id="263"/>
          </p14:sldIdLst>
        </p14:section>
        <p14:section name="Negocio" id="{4f7bb6cb-38dd-69f5-c963-3071d95bae51}">
          <p14:sldIdLst>
            <p14:sldId id="264"/>
          </p14:sldIdLst>
        </p14:section>
        <p14:section name="Piloto" id="{960ab5a4-1b3d-5f65-1d9a-8320ecf8d14b}">
          <p14:sldIdLst>
            <p14:sldId id="265"/>
            <p14:sldId id="266"/>
            <p14:sldId id="267"/>
          </p14:sldIdLst>
        </p14:section>
        <p14:section name="Cierre" id="{19050f47-992d-71e2-b58d-2d553aa56425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B2D"/>
                </a:solidFill>
                <a:latin typeface="+mn-lt"/>
              </a:rPr>
              <a:t>% de visitas evitables anticipadas (mismo presupuesto: 2 % semanal)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visitas evitables anticipadas</c:v>
                </c:pt>
              </c:strCache>
            </c:strRef>
          </c:tx>
          <c:spPr>
            <a:solidFill>
              <a:srgbClr val="1E5BBF"/>
            </a:solidFill>
            <a:effectLst/>
          </c:spPr>
          <c:invertIfNegative val="0"/>
          <c:dLbls>
            <c:numFmt formatCode="0&quot; 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Azar</c:v>
                  </c:pt>
                  <c:pt idx="1">
                    <c:v>Regla de umbrales</c:v>
                  </c:pt>
                  <c:pt idx="2">
                    <c:v>Regresión logística</c:v>
                  </c:pt>
                  <c:pt idx="3">
                    <c:v>IA (LightGBM calibrado)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26</c:v>
                </c:pt>
                <c:pt idx="2">
                  <c:v>46</c:v>
                </c:pt>
                <c:pt idx="3">
                  <c:v>52</c:v>
                </c:pt>
              </c:numCache>
            </c:numRef>
          </c:val>
        </c:ser>
        <c:dLbls>
          <c:numFmt formatCode="0&quot; 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F1B2D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F1B2D"/>
                </a:solidFill>
                <a:latin typeface="+mn-lt"/>
              </a:rPr>
              <a:t>Neto año 1 por frente (millones de L, con inversión)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Hogar</c:v>
                </c:pt>
              </c:strCache>
            </c:strRef>
          </c:tx>
          <c:spPr>
            <a:solidFill>
              <a:srgbClr val="1E5B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-0.6</c:v>
                </c:pt>
                <c:pt idx="1">
                  <c:v>1.3</c:v>
                </c:pt>
                <c:pt idx="2">
                  <c:v>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Móvil</c:v>
                </c:pt>
              </c:strCache>
            </c:strRef>
          </c:tx>
          <c:spPr>
            <a:solidFill>
              <a:srgbClr val="00A3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3415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Conservador</c:v>
                  </c:pt>
                  <c:pt idx="1">
                    <c:v>Base</c:v>
                  </c:pt>
                  <c:pt idx="2">
                    <c:v>Optimista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-2.3</c:v>
                </c:pt>
                <c:pt idx="1">
                  <c:v>3</c:v>
                </c:pt>
                <c:pt idx="2">
                  <c:v>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33415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3415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D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5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Saludo. 'En 5 minutos les muestro cómo resolver problemas antes de que el cliente llame o de mandar un técnico.'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la escena de Karla. Decir 'supuesto' sin miedo: es lo que da credibilidad.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Cambiar a la app: Hogar en vivo, caso A distancia, 1x, Iniciar. Respaldo: video o /hogar?final.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'Pon tus números' con visitas y costo por visita reales si los tienen.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7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i="1" dirty="0">
                <a:solidFill>
                  <a:srgbClr val="00C8FF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0377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i="1" dirty="0">
                <a:solidFill>
                  <a:srgbClr val="00C8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5"/>
                </a:solidFill>
              </a:rPr>
              <a:t>Tigo Predice · Datos simulados — supuestos a validar con Tigo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Tigo Predice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108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00C8FF"/>
                </a:solidFill>
              </a:rPr>
              <a:t>Los chatbots y copilotos atienden la llamada. Tigo Predice evita que ocurra.</a:t>
            </a:r>
            <a:endParaRPr lang="en-US" sz="2800" dirty="0"/>
          </a:p>
        </p:txBody>
      </p:sp>
      <p:sp>
        <p:nvSpPr>
          <p:cNvPr id="4" name="evento"/>
          <p:cNvSpPr txBox="1"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8FF"/>
                </a:solidFill>
              </a:rPr>
              <a:t>TIGO CX MONTH · CONCURSO SHARKS DE IA</a:t>
            </a:r>
            <a:endParaRPr lang="en-US" sz="1400" dirty="0"/>
          </a:p>
        </p:txBody>
      </p:sp>
      <p:sp>
        <p:nvSpPr>
          <p:cNvPr id="5" name="lema"/>
          <p:cNvSpPr txBox="1"/>
          <p:nvPr/>
        </p:nvSpPr>
        <p:spPr>
          <a:xfrm>
            <a:off x="731520" y="43434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La IA que detecta el problema antes que el cliente, y lo resuelve antes de que llame o de que haya que mandar un técnico.</a:t>
            </a:r>
            <a:endParaRPr lang="en-US" sz="1800" dirty="0"/>
          </a:p>
        </p:txBody>
      </p:sp>
      <p:sp>
        <p:nvSpPr>
          <p:cNvPr id="6" name="sub"/>
          <p:cNvSpPr txBox="1"/>
          <p:nvPr/>
        </p:nvSpPr>
        <p:spPr>
          <a:xfrm>
            <a:off x="73152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Atención proactiva · Piloto Hogar + Móvil · San Pedro Sula · 60 días · grupo control</a:t>
            </a:r>
            <a:endParaRPr lang="en-US" sz="1500" dirty="0"/>
          </a:p>
        </p:txBody>
      </p:sp>
      <p:sp>
        <p:nvSpPr>
          <p:cNvPr id="7" name="presenta"/>
          <p:cNvSpPr txBox="1"/>
          <p:nvPr/>
        </p:nvSpPr>
        <p:spPr>
          <a:xfrm>
            <a:off x="731520" y="5852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Presenta: [Nombre] · [Área] · Octubre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módem avisa días antes. Hoy nadie lo escucha</a:t>
            </a:r>
            <a:endParaRPr lang="en-US" sz="3200" dirty="0"/>
          </a:p>
        </p:txBody>
      </p:sp>
      <p:sp>
        <p:nvSpPr>
          <p:cNvPr id="3" name="p0"/>
          <p:cNvSpPr/>
          <p:nvPr/>
        </p:nvSpPr>
        <p:spPr>
          <a:xfrm>
            <a:off x="640080" y="1463040"/>
            <a:ext cx="594360" cy="5943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p0-t"/>
          <p:cNvSpPr txBox="1"/>
          <p:nvPr/>
        </p:nvSpPr>
        <p:spPr>
          <a:xfrm>
            <a:off x="6400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00377B"/>
                </a:solidFill>
              </a:rPr>
              <a:t>1</a:t>
            </a:r>
            <a:endParaRPr lang="en-US" sz="1690" dirty="0"/>
          </a:p>
        </p:txBody>
      </p:sp>
      <p:sp>
        <p:nvSpPr>
          <p:cNvPr id="5" name="pt0"/>
          <p:cNvSpPr txBox="1"/>
          <p:nvPr/>
        </p:nvSpPr>
        <p:spPr>
          <a:xfrm>
            <a:off x="1463040" y="1417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Día 1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WiFi de Karla empieza a empeorar. La telemetría del módem ya lo muestra.</a:t>
            </a:r>
            <a:endParaRPr lang="en-US" sz="1700" dirty="0"/>
          </a:p>
        </p:txBody>
      </p:sp>
      <p:sp>
        <p:nvSpPr>
          <p:cNvPr id="6" name="p1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p1-t"/>
          <p:cNvSpPr txBox="1"/>
          <p:nvPr/>
        </p:nvSpPr>
        <p:spPr>
          <a:xfrm>
            <a:off x="640080" y="2606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00377B"/>
                </a:solidFill>
              </a:rPr>
              <a:t>2</a:t>
            </a:r>
            <a:endParaRPr lang="en-US" sz="1690" dirty="0"/>
          </a:p>
        </p:txBody>
      </p:sp>
      <p:sp>
        <p:nvSpPr>
          <p:cNvPr id="8" name="pt1"/>
          <p:cNvSpPr txBox="1"/>
          <p:nvPr/>
        </p:nvSpPr>
        <p:spPr>
          <a:xfrm>
            <a:off x="1463040" y="2560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Día 6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Karla no aguanta más: llama, espera y le agendan un técnico.</a:t>
            </a:r>
            <a:endParaRPr lang="en-US" sz="1700" dirty="0"/>
          </a:p>
        </p:txBody>
      </p:sp>
      <p:sp>
        <p:nvSpPr>
          <p:cNvPr id="9" name="p2"/>
          <p:cNvSpPr/>
          <p:nvPr/>
        </p:nvSpPr>
        <p:spPr>
          <a:xfrm>
            <a:off x="640080" y="3749040"/>
            <a:ext cx="594360" cy="594360"/>
          </a:xfrm>
          <a:prstGeom prst="ellipse">
            <a:avLst/>
          </a:prstGeom>
          <a:solidFill>
            <a:srgbClr val="E0303A"/>
          </a:solidFill>
          <a:ln w="12700">
            <a:solidFill>
              <a:srgbClr val="E0303A"/>
            </a:solidFill>
            <a:prstDash val="solid"/>
          </a:ln>
        </p:spPr>
      </p:sp>
      <p:sp>
        <p:nvSpPr>
          <p:cNvPr id="10" name="p2-t"/>
          <p:cNvSpPr txBox="1"/>
          <p:nvPr/>
        </p:nvSpPr>
        <p:spPr>
          <a:xfrm>
            <a:off x="64008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90" b="1" dirty="0">
                <a:solidFill>
                  <a:srgbClr val="FFFFFF"/>
                </a:solidFill>
              </a:rPr>
              <a:t>3</a:t>
            </a:r>
            <a:endParaRPr lang="en-US" sz="1690" dirty="0"/>
          </a:p>
        </p:txBody>
      </p:sp>
      <p:sp>
        <p:nvSpPr>
          <p:cNvPr id="11" name="pt2"/>
          <p:cNvSpPr txBox="1"/>
          <p:nvPr/>
        </p:nvSpPr>
        <p:spPr>
          <a:xfrm>
            <a:off x="1463040" y="37033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Día 8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técnico va, no encuentra nada físico, cambia el canal del WiFi y se va.</a:t>
            </a:r>
            <a:endParaRPr lang="en-US" sz="1700" dirty="0"/>
          </a:p>
        </p:txBody>
      </p:sp>
      <p:sp>
        <p:nvSpPr>
          <p:cNvPr id="12" name="dato"/>
          <p:cNvSpPr/>
          <p:nvPr/>
        </p:nvSpPr>
        <p:spPr>
          <a:xfrm>
            <a:off x="6949440" y="1417320"/>
            <a:ext cx="4663440" cy="41148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3" name="c1"/>
          <p:cNvSpPr txBox="1"/>
          <p:nvPr/>
        </p:nvSpPr>
        <p:spPr>
          <a:xfrm>
            <a:off x="7269480" y="16916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1 de cada 4</a:t>
            </a:r>
            <a:endParaRPr lang="en-US" sz="4400" dirty="0"/>
          </a:p>
        </p:txBody>
      </p:sp>
      <p:sp>
        <p:nvSpPr>
          <p:cNvPr id="14" name="c1-e"/>
          <p:cNvSpPr txBox="1"/>
          <p:nvPr/>
        </p:nvSpPr>
        <p:spPr>
          <a:xfrm>
            <a:off x="7269480" y="24688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técnicas son evitables: WiFi, firmware o «sin falla encontrada» (supuesto a validar)</a:t>
            </a:r>
            <a:endParaRPr lang="en-US" sz="1400" dirty="0"/>
          </a:p>
        </p:txBody>
      </p:sp>
      <p:sp>
        <p:nvSpPr>
          <p:cNvPr id="15" name="c2"/>
          <p:cNvSpPr txBox="1"/>
          <p:nvPr/>
        </p:nvSpPr>
        <p:spPr>
          <a:xfrm>
            <a:off x="7269480" y="342900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L 650 + 2 llamadas</a:t>
            </a:r>
            <a:endParaRPr lang="en-US" sz="3600" dirty="0"/>
          </a:p>
        </p:txBody>
      </p:sp>
      <p:sp>
        <p:nvSpPr>
          <p:cNvPr id="16" name="c2-e"/>
          <p:cNvSpPr txBox="1"/>
          <p:nvPr/>
        </p:nvSpPr>
        <p:spPr>
          <a:xfrm>
            <a:off x="7269480" y="4206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por visita (supuestos) · 5,700 visitas al mes en 191,000 hogares</a:t>
            </a:r>
            <a:endParaRPr lang="en-US" sz="1400" dirty="0"/>
          </a:p>
        </p:txBody>
      </p:sp>
      <p:sp>
        <p:nvSpPr>
          <p:cNvPr id="17" name="movil"/>
          <p:cNvSpPr txBox="1"/>
          <p:nvPr/>
        </p:nvSpPr>
        <p:spPr>
          <a:xfrm>
            <a:off x="548640" y="5120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75"/>
                </a:solidFill>
              </a:rPr>
              <a:t>Y en móvil: cuando cae un sitio, 1 de cada 3 afectados llama si no recibe aviso (benchmark público).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Por qué ahora</a:t>
            </a:r>
            <a:endParaRPr lang="en-US" sz="3200" dirty="0"/>
          </a:p>
        </p:txBody>
      </p:sp>
      <p:sp>
        <p:nvSpPr>
          <p:cNvPr id="3" name="w0"/>
          <p:cNvSpPr/>
          <p:nvPr/>
        </p:nvSpPr>
        <p:spPr>
          <a:xfrm>
            <a:off x="54864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wv0"/>
          <p:cNvSpPr txBox="1"/>
          <p:nvPr/>
        </p:nvSpPr>
        <p:spPr>
          <a:xfrm>
            <a:off x="86868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Los datos ya existen</a:t>
            </a:r>
            <a:endParaRPr lang="en-US" sz="2800" dirty="0"/>
          </a:p>
        </p:txBody>
      </p:sp>
      <p:sp>
        <p:nvSpPr>
          <p:cNvPr id="5" name="wd0"/>
          <p:cNvSpPr txBox="1"/>
          <p:nvPr/>
        </p:nvSpPr>
        <p:spPr>
          <a:xfrm>
            <a:off x="868680" y="2697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módems reportan señal, errores, reinicios y WiFi al ACS. Hoy solo se miran cuando cruzan un umbral.</a:t>
            </a:r>
            <a:endParaRPr lang="en-US" sz="1600" dirty="0"/>
          </a:p>
        </p:txBody>
      </p:sp>
      <p:sp>
        <p:nvSpPr>
          <p:cNvPr id="6" name="w1"/>
          <p:cNvSpPr/>
          <p:nvPr/>
        </p:nvSpPr>
        <p:spPr>
          <a:xfrm>
            <a:off x="434340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wv1"/>
          <p:cNvSpPr txBox="1"/>
          <p:nvPr/>
        </p:nvSpPr>
        <p:spPr>
          <a:xfrm>
            <a:off x="466344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La IA predictiva</a:t>
            </a:r>
            <a:endParaRPr lang="en-US" sz="2800" dirty="0"/>
          </a:p>
        </p:txBody>
      </p:sp>
      <p:sp>
        <p:nvSpPr>
          <p:cNvPr id="8" name="wd1"/>
          <p:cNvSpPr txBox="1"/>
          <p:nvPr/>
        </p:nvSpPr>
        <p:spPr>
          <a:xfrm>
            <a:off x="4663440" y="2697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califica cada semana a todos los hogares y marca al 2 % que va a fallar, días antes y con su porqué.</a:t>
            </a:r>
            <a:endParaRPr lang="en-US" sz="1600" dirty="0"/>
          </a:p>
        </p:txBody>
      </p:sp>
      <p:sp>
        <p:nvSpPr>
          <p:cNvPr id="9" name="w2"/>
          <p:cNvSpPr/>
          <p:nvPr/>
        </p:nvSpPr>
        <p:spPr>
          <a:xfrm>
            <a:off x="8138160" y="14630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wv2"/>
          <p:cNvSpPr txBox="1"/>
          <p:nvPr/>
        </p:nvSpPr>
        <p:spPr>
          <a:xfrm>
            <a:off x="8458200" y="1783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Acción a distancia</a:t>
            </a:r>
            <a:endParaRPr lang="en-US" sz="2800" dirty="0"/>
          </a:p>
        </p:txBody>
      </p:sp>
      <p:sp>
        <p:nvSpPr>
          <p:cNvPr id="11" name="wd2"/>
          <p:cNvSpPr txBox="1"/>
          <p:nvPr/>
        </p:nvSpPr>
        <p:spPr>
          <a:xfrm>
            <a:off x="8458200" y="269748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Firmware, canal WiFi y reinicio desde el ACS. Avisar por WhatsApp cuesta US$0.011.</a:t>
            </a:r>
            <a:endParaRPr lang="en-US" sz="1600" dirty="0"/>
          </a:p>
        </p:txBody>
      </p:sp>
      <p:sp>
        <p:nvSpPr>
          <p:cNvPr id="12" name="pos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chemeClr val="tx2"/>
                </a:solidFill>
              </a:rPr>
              <a:t>Los chatbots y copilotos atienden la llamada. Tigo Predice evita que ocurra.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Detecta, resuelve y mide contra un grupo control</a:t>
            </a:r>
            <a:endParaRPr lang="en-US" sz="3200" dirty="0"/>
          </a:p>
        </p:txBody>
      </p:sp>
      <p:sp>
        <p:nvSpPr>
          <p:cNvPr id="3" name="s1"/>
          <p:cNvSpPr/>
          <p:nvPr/>
        </p:nvSpPr>
        <p:spPr>
          <a:xfrm>
            <a:off x="54864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sn1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sn1-t"/>
          <p:cNvSpPr txBox="1"/>
          <p:nvPr/>
        </p:nvSpPr>
        <p:spPr>
          <a:xfrm>
            <a:off x="86868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377B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st1"/>
          <p:cNvSpPr txBox="1"/>
          <p:nvPr/>
        </p:nvSpPr>
        <p:spPr>
          <a:xfrm>
            <a:off x="86868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Detecta</a:t>
            </a:r>
            <a:endParaRPr lang="en-US" sz="2600" dirty="0"/>
          </a:p>
        </p:txBody>
      </p:sp>
      <p:sp>
        <p:nvSpPr>
          <p:cNvPr id="7" name="sd1"/>
          <p:cNvSpPr txBox="1"/>
          <p:nvPr/>
        </p:nvSpPr>
        <p:spPr>
          <a:xfrm>
            <a:off x="868680" y="32461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semana la IA califica la telemetría de todos los módems y marca al 2 % con más riesgo, con su explicación.</a:t>
            </a:r>
            <a:endParaRPr lang="en-US" sz="1600" dirty="0"/>
          </a:p>
        </p:txBody>
      </p:sp>
      <p:sp>
        <p:nvSpPr>
          <p:cNvPr id="8" name="s2"/>
          <p:cNvSpPr/>
          <p:nvPr/>
        </p:nvSpPr>
        <p:spPr>
          <a:xfrm>
            <a:off x="434340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sn2"/>
          <p:cNvSpPr/>
          <p:nvPr/>
        </p:nvSpPr>
        <p:spPr>
          <a:xfrm>
            <a:off x="4663440" y="1737360"/>
            <a:ext cx="731520" cy="7315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sn2-t"/>
          <p:cNvSpPr txBox="1"/>
          <p:nvPr/>
        </p:nvSpPr>
        <p:spPr>
          <a:xfrm>
            <a:off x="466344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377B"/>
                </a:solidFill>
              </a:rPr>
              <a:t>2</a:t>
            </a:r>
            <a:endParaRPr lang="en-US" sz="2080" dirty="0"/>
          </a:p>
        </p:txBody>
      </p:sp>
      <p:sp>
        <p:nvSpPr>
          <p:cNvPr id="11" name="st2"/>
          <p:cNvSpPr txBox="1"/>
          <p:nvPr/>
        </p:nvSpPr>
        <p:spPr>
          <a:xfrm>
            <a:off x="466344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Resuelve</a:t>
            </a:r>
            <a:endParaRPr lang="en-US" sz="2600" dirty="0"/>
          </a:p>
        </p:txBody>
      </p:sp>
      <p:sp>
        <p:nvSpPr>
          <p:cNvPr id="12" name="sd2"/>
          <p:cNvSpPr txBox="1"/>
          <p:nvPr/>
        </p:nvSpPr>
        <p:spPr>
          <a:xfrm>
            <a:off x="4663440" y="32461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 es WiFi o firmware, se corrige a distancia y llega un WhatsApp. Si es físico, el técnico va una sola vez y con el diagnóstico.</a:t>
            </a:r>
            <a:endParaRPr lang="en-US" sz="1600" dirty="0"/>
          </a:p>
        </p:txBody>
      </p:sp>
      <p:sp>
        <p:nvSpPr>
          <p:cNvPr id="13" name="s3"/>
          <p:cNvSpPr/>
          <p:nvPr/>
        </p:nvSpPr>
        <p:spPr>
          <a:xfrm>
            <a:off x="8138160" y="146304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4" name="sn3"/>
          <p:cNvSpPr/>
          <p:nvPr/>
        </p:nvSpPr>
        <p:spPr>
          <a:xfrm>
            <a:off x="8458200" y="1737360"/>
            <a:ext cx="731520" cy="7315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5" name="sn3-t"/>
          <p:cNvSpPr txBox="1"/>
          <p:nvPr/>
        </p:nvSpPr>
        <p:spPr>
          <a:xfrm>
            <a:off x="8458200" y="1737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00377B"/>
                </a:solidFill>
              </a:rPr>
              <a:t>3</a:t>
            </a:r>
            <a:endParaRPr lang="en-US" sz="2080" dirty="0"/>
          </a:p>
        </p:txBody>
      </p:sp>
      <p:sp>
        <p:nvSpPr>
          <p:cNvPr id="16" name="st3"/>
          <p:cNvSpPr txBox="1"/>
          <p:nvPr/>
        </p:nvSpPr>
        <p:spPr>
          <a:xfrm>
            <a:off x="8458200" y="26517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Mide</a:t>
            </a:r>
            <a:endParaRPr lang="en-US" sz="2600" dirty="0"/>
          </a:p>
        </p:txBody>
      </p:sp>
      <p:sp>
        <p:nvSpPr>
          <p:cNvPr id="17" name="sd3"/>
          <p:cNvSpPr txBox="1"/>
          <p:nvPr/>
        </p:nvSpPr>
        <p:spPr>
          <a:xfrm>
            <a:off x="8458200" y="32461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15 % de los hogares marcados, al azar, queda como control. Se comparan las visitas por 1,000 marcados.</a:t>
            </a:r>
            <a:endParaRPr lang="en-US" sz="1600" dirty="0"/>
          </a:p>
        </p:txBody>
      </p:sp>
      <p:sp>
        <p:nvSpPr>
          <p:cNvPr id="18" name="nota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El mismo motor cubre Móvil: en fallas masivas, aviso por WhatsApp antes de que llamen.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«Hogar en vivo»: 80 segundos</a:t>
            </a:r>
            <a:endParaRPr lang="en-US" sz="3200" dirty="0"/>
          </a:p>
        </p:txBody>
      </p:sp>
      <p:pic>
        <p:nvPicPr>
          <p:cNvPr id="3" name="captura" descr="Pantalla Hogar en v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40880" cy="3959352"/>
          </a:xfrm>
          <a:prstGeom prst="rect">
            <a:avLst/>
          </a:prstGeom>
        </p:spPr>
      </p:pic>
      <p:sp>
        <p:nvSpPr>
          <p:cNvPr id="4" name="d0"/>
          <p:cNvSpPr/>
          <p:nvPr/>
        </p:nvSpPr>
        <p:spPr>
          <a:xfrm>
            <a:off x="7955280" y="137160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5" name="d0-t"/>
          <p:cNvSpPr txBox="1"/>
          <p:nvPr/>
        </p:nvSpPr>
        <p:spPr>
          <a:xfrm>
            <a:off x="7955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dt0"/>
          <p:cNvSpPr txBox="1"/>
          <p:nvPr/>
        </p:nvSpPr>
        <p:spPr>
          <a:xfrm>
            <a:off x="8549640" y="1325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26/09: empieza el problema; Karla no nota nada</a:t>
            </a:r>
            <a:endParaRPr lang="en-US" sz="1400" dirty="0"/>
          </a:p>
        </p:txBody>
      </p:sp>
      <p:sp>
        <p:nvSpPr>
          <p:cNvPr id="7" name="d1"/>
          <p:cNvSpPr/>
          <p:nvPr/>
        </p:nvSpPr>
        <p:spPr>
          <a:xfrm>
            <a:off x="7955280" y="210312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d1-t"/>
          <p:cNvSpPr txBox="1"/>
          <p:nvPr/>
        </p:nvSpPr>
        <p:spPr>
          <a:xfrm>
            <a:off x="79552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dt1"/>
          <p:cNvSpPr txBox="1"/>
          <p:nvPr/>
        </p:nvSpPr>
        <p:spPr>
          <a:xfrm>
            <a:off x="8549640" y="2057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28/09: la IA lo marca (top 2 %), la regla no ve nada</a:t>
            </a:r>
            <a:endParaRPr lang="en-US" sz="1400" dirty="0"/>
          </a:p>
        </p:txBody>
      </p:sp>
      <p:sp>
        <p:nvSpPr>
          <p:cNvPr id="10" name="d2"/>
          <p:cNvSpPr/>
          <p:nvPr/>
        </p:nvSpPr>
        <p:spPr>
          <a:xfrm>
            <a:off x="7955280" y="283464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d2-t"/>
          <p:cNvSpPr txBox="1"/>
          <p:nvPr/>
        </p:nvSpPr>
        <p:spPr>
          <a:xfrm>
            <a:off x="79552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dt2"/>
          <p:cNvSpPr txBox="1"/>
          <p:nvPr/>
        </p:nvSpPr>
        <p:spPr>
          <a:xfrm>
            <a:off x="854964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 por qué: el WiFi empeora día a día</a:t>
            </a:r>
            <a:endParaRPr lang="en-US" sz="1400" dirty="0"/>
          </a:p>
        </p:txBody>
      </p:sp>
      <p:sp>
        <p:nvSpPr>
          <p:cNvPr id="13" name="d3"/>
          <p:cNvSpPr/>
          <p:nvPr/>
        </p:nvSpPr>
        <p:spPr>
          <a:xfrm>
            <a:off x="7955280" y="356616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4" name="d3-t"/>
          <p:cNvSpPr txBox="1"/>
          <p:nvPr/>
        </p:nvSpPr>
        <p:spPr>
          <a:xfrm>
            <a:off x="79552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dt3"/>
          <p:cNvSpPr txBox="1"/>
          <p:nvPr/>
        </p:nvSpPr>
        <p:spPr>
          <a:xfrm>
            <a:off x="8549640" y="3520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corrige a distancia + WhatsApp</a:t>
            </a:r>
            <a:endParaRPr lang="en-US" sz="1400" dirty="0"/>
          </a:p>
        </p:txBody>
      </p:sp>
      <p:sp>
        <p:nvSpPr>
          <p:cNvPr id="16" name="d4"/>
          <p:cNvSpPr/>
          <p:nvPr/>
        </p:nvSpPr>
        <p:spPr>
          <a:xfrm>
            <a:off x="7955280" y="429768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7" name="d4-t"/>
          <p:cNvSpPr txBox="1"/>
          <p:nvPr/>
        </p:nvSpPr>
        <p:spPr>
          <a:xfrm>
            <a:off x="79552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dt4"/>
          <p:cNvSpPr txBox="1"/>
          <p:nvPr/>
        </p:nvSpPr>
        <p:spPr>
          <a:xfrm>
            <a:off x="8549640" y="42519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02/10: sin Tigo Predice, Karla habría llamado</a:t>
            </a:r>
            <a:endParaRPr lang="en-US" sz="1400" dirty="0"/>
          </a:p>
        </p:txBody>
      </p:sp>
      <p:sp>
        <p:nvSpPr>
          <p:cNvPr id="19" name="d5"/>
          <p:cNvSpPr/>
          <p:nvPr/>
        </p:nvSpPr>
        <p:spPr>
          <a:xfrm>
            <a:off x="7955280" y="5029200"/>
            <a:ext cx="457200" cy="4572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20" name="d5-t"/>
          <p:cNvSpPr txBox="1"/>
          <p:nvPr/>
        </p:nvSpPr>
        <p:spPr>
          <a:xfrm>
            <a:off x="795528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77B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dt5"/>
          <p:cNvSpPr txBox="1"/>
          <p:nvPr/>
        </p:nvSpPr>
        <p:spPr>
          <a:xfrm>
            <a:off x="854964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Visita evitada: L 780 por L 0.31</a:t>
            </a:r>
            <a:endParaRPr lang="en-US" sz="1400" dirty="0"/>
          </a:p>
        </p:txBody>
      </p:sp>
      <p:sp>
        <p:nvSpPr>
          <p:cNvPr id="22" name="pie"/>
          <p:cNvSpPr txBox="1"/>
          <p:nvPr/>
        </p:nvSpPr>
        <p:spPr>
          <a:xfrm>
            <a:off x="548640" y="54406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5"/>
                </a:solidFill>
              </a:rPr>
              <a:t>El riesgo diario y la explicación los calcula el modelo real. Incluye la lista de trabajo de hoy para soporte.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La IA, medida contra la regla (no contra nada)</a:t>
            </a:r>
            <a:endParaRPr lang="en-US" sz="3200" dirty="0"/>
          </a:p>
        </p:txBody>
      </p:sp>
      <p:graphicFrame>
        <p:nvGraphicFramePr>
          <p:cNvPr id="3" name="graf-modelo" descr=""/>
          <p:cNvGraphicFramePr/>
          <p:nvPr/>
        </p:nvGraphicFramePr>
        <p:xfrm>
          <a:off x="548640" y="1325880"/>
          <a:ext cx="60350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0"/>
          <p:cNvSpPr/>
          <p:nvPr/>
        </p:nvSpPr>
        <p:spPr>
          <a:xfrm>
            <a:off x="6949440" y="137160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5" name="ht0"/>
          <p:cNvSpPr txBox="1"/>
          <p:nvPr/>
        </p:nvSpPr>
        <p:spPr>
          <a:xfrm>
            <a:off x="7178040" y="14630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2.0× lo que ve la regla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IA anticipa 52 % de las visitas evitables; la regla de umbrales, 26 %.</a:t>
            </a:r>
            <a:endParaRPr lang="en-US" sz="1700" dirty="0"/>
          </a:p>
        </p:txBody>
      </p:sp>
      <p:sp>
        <p:nvSpPr>
          <p:cNvPr id="6" name="h1"/>
          <p:cNvSpPr/>
          <p:nvPr/>
        </p:nvSpPr>
        <p:spPr>
          <a:xfrm>
            <a:off x="6949440" y="278892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ht1"/>
          <p:cNvSpPr txBox="1"/>
          <p:nvPr/>
        </p:nvSpPr>
        <p:spPr>
          <a:xfrm>
            <a:off x="7178040" y="288036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51 % sin ninguna alarma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IA ve tendencias (señal que baja, WiFi que empeora); la regla ve cuando ya es tarde.</a:t>
            </a:r>
            <a:endParaRPr lang="en-US" sz="1700" dirty="0"/>
          </a:p>
        </p:txBody>
      </p:sp>
      <p:sp>
        <p:nvSpPr>
          <p:cNvPr id="8" name="h2"/>
          <p:cNvSpPr/>
          <p:nvPr/>
        </p:nvSpPr>
        <p:spPr>
          <a:xfrm>
            <a:off x="6949440" y="4206240"/>
            <a:ext cx="46634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ht2"/>
          <p:cNvSpPr txBox="1"/>
          <p:nvPr/>
        </p:nvSpPr>
        <p:spPr>
          <a:xfrm>
            <a:off x="7178040" y="429768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Honesta y con salida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Una regresión simple casi iguala. Si con datos reales no gana por 1.3×, se usa la regla.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se medirá: piloto Hogar simulado con grupo control</a:t>
            </a:r>
            <a:endParaRPr lang="en-US" sz="3200" dirty="0"/>
          </a:p>
        </p:txBody>
      </p:sp>
      <p:sp>
        <p:nvSpPr>
          <p:cNvPr id="3" name="ctl"/>
          <p:cNvSpPr txBox="1"/>
          <p:nvPr/>
        </p:nvSpPr>
        <p:spPr>
          <a:xfrm>
            <a:off x="54864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0303A"/>
                </a:solidFill>
              </a:rPr>
              <a:t>414</a:t>
            </a:r>
            <a:endParaRPr lang="en-US" sz="6000" dirty="0"/>
          </a:p>
        </p:txBody>
      </p:sp>
      <p:sp>
        <p:nvSpPr>
          <p:cNvPr id="4" name="ctl-e"/>
          <p:cNvSpPr txBox="1"/>
          <p:nvPr/>
        </p:nvSpPr>
        <p:spPr>
          <a:xfrm>
            <a:off x="54864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por 1,000 hogares marcados SIN acción (control)</a:t>
            </a:r>
            <a:endParaRPr lang="en-US" sz="1400" dirty="0"/>
          </a:p>
        </p:txBody>
      </p:sp>
      <p:sp>
        <p:nvSpPr>
          <p:cNvPr id="5" name="trt"/>
          <p:cNvSpPr txBox="1"/>
          <p:nvPr/>
        </p:nvSpPr>
        <p:spPr>
          <a:xfrm>
            <a:off x="402336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6A35A"/>
                </a:solidFill>
              </a:rPr>
              <a:t>336</a:t>
            </a:r>
            <a:endParaRPr lang="en-US" sz="6000" dirty="0"/>
          </a:p>
        </p:txBody>
      </p:sp>
      <p:sp>
        <p:nvSpPr>
          <p:cNvPr id="6" name="trt-e"/>
          <p:cNvSpPr txBox="1"/>
          <p:nvPr/>
        </p:nvSpPr>
        <p:spPr>
          <a:xfrm>
            <a:off x="402336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visitas por 1,000 hogares marcados CON atención proactiva</a:t>
            </a:r>
            <a:endParaRPr lang="en-US" sz="1400" dirty="0"/>
          </a:p>
        </p:txBody>
      </p:sp>
      <p:sp>
        <p:nvSpPr>
          <p:cNvPr id="7" name="red"/>
          <p:cNvSpPr/>
          <p:nvPr/>
        </p:nvSpPr>
        <p:spPr>
          <a:xfrm>
            <a:off x="7680960" y="137160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00377B"/>
          </a:solidFill>
          <a:ln w="12700">
            <a:solidFill>
              <a:srgbClr val="00377B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8" name="red-t"/>
          <p:cNvSpPr txBox="1"/>
          <p:nvPr/>
        </p:nvSpPr>
        <p:spPr>
          <a:xfrm>
            <a:off x="7955280" y="155448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−19 %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</a:rPr>
              <a:t>IC 95 %: 12 % a 25 % · llamadas −56 %</a:t>
            </a: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0C8FF"/>
                </a:solidFill>
              </a:rPr>
              <a:t>Decisión simulada: GO</a:t>
            </a:r>
            <a:endParaRPr lang="en-US" sz="1600" dirty="0"/>
          </a:p>
        </p:txBody>
      </p:sp>
      <p:sp>
        <p:nvSpPr>
          <p:cNvPr id="9" name="aviso"/>
          <p:cNvSpPr/>
          <p:nvPr/>
        </p:nvSpPr>
        <p:spPr>
          <a:xfrm>
            <a:off x="548640" y="39319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aviso-t"/>
          <p:cNvSpPr txBox="1"/>
          <p:nvPr/>
        </p:nvSpPr>
        <p:spPr>
          <a:xfrm>
            <a:off x="822960" y="40690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4B00"/>
                </a:solidFill>
              </a:rPr>
              <a:t>Resultado SIMULADO: </a:t>
            </a:r>
            <a:pPr indent="0" marL="0">
              <a:buNone/>
            </a:pPr>
            <a:r>
              <a:rPr lang="en-US" sz="1600" dirty="0">
                <a:solidFill>
                  <a:srgbClr val="7A4B00"/>
                </a:solidFill>
              </a:rPr>
              <a:t>60 días en San Pedro Sula, 7,200 hogares marcados, con el riesgo que la IA predijo fuera de muestra. Supone que el 70 % de los problemas resolubles a distancia se corrigen. Poder estadístico: 97 %. Muestra cómo se medirá; no promete un número.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Móvil: el mismo motor en fallas masivas</a:t>
            </a:r>
            <a:endParaRPr lang="en-US" sz="3200" dirty="0"/>
          </a:p>
        </p:txBody>
      </p:sp>
      <p:pic>
        <p:nvPicPr>
          <p:cNvPr id="3" name="captura-falla" descr="Pantalla Falla masiva en v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040880" cy="3959352"/>
          </a:xfrm>
          <a:prstGeom prst="rect">
            <a:avLst/>
          </a:prstGeom>
        </p:spPr>
      </p:pic>
      <p:sp>
        <p:nvSpPr>
          <p:cNvPr id="4" name="m0"/>
          <p:cNvSpPr/>
          <p:nvPr/>
        </p:nvSpPr>
        <p:spPr>
          <a:xfrm>
            <a:off x="7863840" y="1325880"/>
            <a:ext cx="3749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5" name="mt0"/>
          <p:cNvSpPr txBox="1"/>
          <p:nvPr/>
        </p:nvSpPr>
        <p:spPr>
          <a:xfrm>
            <a:off x="8092440" y="14173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Aviso en minutos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Causa en palabras simples y hora del NOC solo si la tiene. Cierre al restablecer.</a:t>
            </a:r>
            <a:endParaRPr lang="en-US" sz="1600" dirty="0"/>
          </a:p>
        </p:txBody>
      </p:sp>
      <p:sp>
        <p:nvSpPr>
          <p:cNvPr id="6" name="m1"/>
          <p:cNvSpPr/>
          <p:nvPr/>
        </p:nvSpPr>
        <p:spPr>
          <a:xfrm>
            <a:off x="7863840" y="2697480"/>
            <a:ext cx="3749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mt1"/>
          <p:cNvSpPr txBox="1"/>
          <p:nvPr/>
        </p:nvSpPr>
        <p:spPr>
          <a:xfrm>
            <a:off x="8092440" y="27889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−16 % de llamadas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IC 95 %: 12 % a 19 % en la simulación del piloto (efecto supuesto de 20 %).</a:t>
            </a:r>
            <a:endParaRPr lang="en-US" sz="1600" dirty="0"/>
          </a:p>
        </p:txBody>
      </p:sp>
      <p:sp>
        <p:nvSpPr>
          <p:cNvPr id="8" name="m2"/>
          <p:cNvSpPr/>
          <p:nvPr/>
        </p:nvSpPr>
        <p:spPr>
          <a:xfrm>
            <a:off x="7863840" y="4069080"/>
            <a:ext cx="374904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9" name="mt2"/>
          <p:cNvSpPr txBox="1"/>
          <p:nvPr/>
        </p:nvSpPr>
        <p:spPr>
          <a:xfrm>
            <a:off x="8092440" y="416052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 paga con 12 %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 reducción de llamadas en los avisados. Benchmarks públicos: 18 % a 88 %.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 4.3 M netos en el año 1, solo beneficio duro</a:t>
            </a:r>
            <a:endParaRPr lang="en-US" sz="3200" dirty="0"/>
          </a:p>
        </p:txBody>
      </p:sp>
      <p:sp>
        <p:nvSpPr>
          <p:cNvPr id="3" name="eqh"/>
          <p:cNvSpPr txBox="1"/>
          <p:nvPr/>
        </p:nvSpPr>
        <p:spPr>
          <a:xfrm>
            <a:off x="548640" y="1417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tx2"/>
                </a:solidFill>
              </a:rPr>
              <a:t>22 %</a:t>
            </a:r>
            <a:endParaRPr lang="en-US" sz="4400" dirty="0"/>
          </a:p>
        </p:txBody>
      </p:sp>
      <p:sp>
        <p:nvSpPr>
          <p:cNvPr id="4" name="eqh-e"/>
          <p:cNvSpPr txBox="1"/>
          <p:nvPr/>
        </p:nvSpPr>
        <p:spPr>
          <a:xfrm>
            <a:off x="548640" y="21945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menos visitas evitables y el frente Hogar se paga en el año 1 (caso base 45 %)</a:t>
            </a:r>
            <a:endParaRPr lang="en-US" sz="1400" dirty="0"/>
          </a:p>
        </p:txBody>
      </p:sp>
      <p:sp>
        <p:nvSpPr>
          <p:cNvPr id="5" name="eqm"/>
          <p:cNvSpPr txBox="1"/>
          <p:nvPr/>
        </p:nvSpPr>
        <p:spPr>
          <a:xfrm>
            <a:off x="548640" y="28803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12 %</a:t>
            </a:r>
            <a:endParaRPr lang="en-US" sz="4400" dirty="0"/>
          </a:p>
        </p:txBody>
      </p:sp>
      <p:sp>
        <p:nvSpPr>
          <p:cNvPr id="6" name="eqm-e"/>
          <p:cNvSpPr txBox="1"/>
          <p:nvPr/>
        </p:nvSpPr>
        <p:spPr>
          <a:xfrm>
            <a:off x="54864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menos llamadas y el frente Móvil se paga en el año 1 (caso base 20 %)</a:t>
            </a:r>
            <a:endParaRPr lang="en-US" sz="1400" dirty="0"/>
          </a:p>
        </p:txBody>
      </p:sp>
      <p:sp>
        <p:nvSpPr>
          <p:cNvPr id="7" name="rng"/>
          <p:cNvSpPr txBox="1"/>
          <p:nvPr/>
        </p:nvSpPr>
        <p:spPr>
          <a:xfrm>
            <a:off x="548640" y="43434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6575"/>
                </a:solidFill>
              </a:rPr>
              <a:t>−L 3 M a L 14 M</a:t>
            </a:r>
            <a:endParaRPr lang="en-US" sz="2600" dirty="0"/>
          </a:p>
        </p:txBody>
      </p:sp>
      <p:sp>
        <p:nvSpPr>
          <p:cNvPr id="8" name="rng-e"/>
          <p:cNvSpPr txBox="1"/>
          <p:nvPr/>
        </p:nvSpPr>
        <p:spPr>
          <a:xfrm>
            <a:off x="548640" y="51206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rango conservador a optimista (con costos hondureños)</a:t>
            </a:r>
            <a:endParaRPr lang="en-US" sz="1400" dirty="0"/>
          </a:p>
        </p:txBody>
      </p:sp>
      <p:graphicFrame>
        <p:nvGraphicFramePr>
          <p:cNvPr id="9" name="grafico" descr=""/>
          <p:cNvGraphicFramePr/>
          <p:nvPr/>
        </p:nvGraphicFramePr>
        <p:xfrm>
          <a:off x="4389120" y="1325880"/>
          <a:ext cx="7223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nota-roi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5"/>
                </a:solidFill>
              </a:rPr>
              <a:t>Supuestos: visita L 650, llamada L 65. Hogar equivale a solo 5 % menos del total de visitas. Retención (L 3.4 M) NO incluida.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Piloto de 12 semanas con GO / NO-GO por frente</a:t>
            </a:r>
            <a:endParaRPr lang="en-US" sz="3200" dirty="0"/>
          </a:p>
        </p:txBody>
      </p:sp>
      <p:sp>
        <p:nvSpPr>
          <p:cNvPr id="3" name="f0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f0-t"/>
          <p:cNvSpPr txBox="1"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77B"/>
                </a:solidFill>
              </a:rPr>
              <a:t>1</a:t>
            </a:r>
            <a:endParaRPr lang="en-US" sz="1820" dirty="0"/>
          </a:p>
        </p:txBody>
      </p:sp>
      <p:sp>
        <p:nvSpPr>
          <p:cNvPr id="5" name="ft0"/>
          <p:cNvSpPr txBox="1"/>
          <p:nvPr/>
        </p:nvSpPr>
        <p:spPr>
          <a:xfrm>
            <a:off x="132588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Semanas 0–2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Preparación</a:t>
            </a:r>
            <a:endParaRPr lang="en-US" sz="2000" dirty="0"/>
          </a:p>
        </p:txBody>
      </p:sp>
      <p:sp>
        <p:nvSpPr>
          <p:cNvPr id="6" name="fd0"/>
          <p:cNvSpPr txBox="1"/>
          <p:nvPr/>
        </p:nvSpPr>
        <p:spPr>
          <a:xfrm>
            <a:off x="54864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CSV del ACS/OLT, NOC, CRM, call center y campo; análisis retrospectivo IA vs. regla; evaluación de impacto</a:t>
            </a:r>
            <a:endParaRPr lang="en-US" sz="1400" dirty="0"/>
          </a:p>
        </p:txBody>
      </p:sp>
      <p:sp>
        <p:nvSpPr>
          <p:cNvPr id="7" name="f1"/>
          <p:cNvSpPr/>
          <p:nvPr/>
        </p:nvSpPr>
        <p:spPr>
          <a:xfrm>
            <a:off x="4343400" y="141732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8" name="f1-t"/>
          <p:cNvSpPr txBox="1"/>
          <p:nvPr/>
        </p:nvSpPr>
        <p:spPr>
          <a:xfrm>
            <a:off x="43434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77B"/>
                </a:solidFill>
              </a:rPr>
              <a:t>2</a:t>
            </a:r>
            <a:endParaRPr lang="en-US" sz="1820" dirty="0"/>
          </a:p>
        </p:txBody>
      </p:sp>
      <p:sp>
        <p:nvSpPr>
          <p:cNvPr id="9" name="ft1"/>
          <p:cNvSpPr txBox="1"/>
          <p:nvPr/>
        </p:nvSpPr>
        <p:spPr>
          <a:xfrm>
            <a:off x="512064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Semanas 3–10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Piloto en vivo</a:t>
            </a:r>
            <a:endParaRPr lang="en-US" sz="2000" dirty="0"/>
          </a:p>
        </p:txBody>
      </p:sp>
      <p:sp>
        <p:nvSpPr>
          <p:cNvPr id="10" name="fd1"/>
          <p:cNvSpPr txBox="1"/>
          <p:nvPr/>
        </p:nvSpPr>
        <p:spPr>
          <a:xfrm>
            <a:off x="434340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Hogar: la IA marca el 2 % y soporte N2 corrige. Móvil: avisos. 15 % de control</a:t>
            </a:r>
            <a:endParaRPr lang="en-US" sz="1400" dirty="0"/>
          </a:p>
        </p:txBody>
      </p:sp>
      <p:sp>
        <p:nvSpPr>
          <p:cNvPr id="11" name="f2"/>
          <p:cNvSpPr/>
          <p:nvPr/>
        </p:nvSpPr>
        <p:spPr>
          <a:xfrm>
            <a:off x="8138160" y="141732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2" name="f2-t"/>
          <p:cNvSpPr txBox="1"/>
          <p:nvPr/>
        </p:nvSpPr>
        <p:spPr>
          <a:xfrm>
            <a:off x="813816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0377B"/>
                </a:solidFill>
              </a:rPr>
              <a:t>3</a:t>
            </a:r>
            <a:endParaRPr lang="en-US" sz="1820" dirty="0"/>
          </a:p>
        </p:txBody>
      </p:sp>
      <p:sp>
        <p:nvSpPr>
          <p:cNvPr id="13" name="ft2"/>
          <p:cNvSpPr txBox="1"/>
          <p:nvPr/>
        </p:nvSpPr>
        <p:spPr>
          <a:xfrm>
            <a:off x="8915400" y="1371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5"/>
                </a:solidFill>
              </a:rPr>
              <a:t>Semanas 11–12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Decisión</a:t>
            </a:r>
            <a:endParaRPr lang="en-US" sz="2000" dirty="0"/>
          </a:p>
        </p:txBody>
      </p:sp>
      <p:sp>
        <p:nvSpPr>
          <p:cNvPr id="14" name="fd2"/>
          <p:cNvSpPr txBox="1"/>
          <p:nvPr/>
        </p:nvSpPr>
        <p:spPr>
          <a:xfrm>
            <a:off x="8138160" y="2286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Efecto con IC 95 %, costo real por visita y llamada evitada, GO/NO-GO</a:t>
            </a:r>
            <a:endParaRPr lang="en-US" sz="1400" dirty="0"/>
          </a:p>
        </p:txBody>
      </p:sp>
      <p:sp>
        <p:nvSpPr>
          <p:cNvPr id="15" name="go"/>
          <p:cNvSpPr/>
          <p:nvPr/>
        </p:nvSpPr>
        <p:spPr>
          <a:xfrm>
            <a:off x="548640" y="3520440"/>
            <a:ext cx="5486400" cy="2240280"/>
          </a:xfrm>
          <a:prstGeom prst="roundRect">
            <a:avLst>
              <a:gd name="adj" fmla="val 4898"/>
            </a:avLst>
          </a:prstGeom>
          <a:solidFill>
            <a:srgbClr val="E8F7EE"/>
          </a:solidFill>
          <a:ln w="12700">
            <a:solidFill>
              <a:srgbClr val="E8F7EE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6" name="go-t"/>
          <p:cNvSpPr txBox="1"/>
          <p:nvPr/>
        </p:nvSpPr>
        <p:spPr>
          <a:xfrm>
            <a:off x="822960" y="361188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A35A"/>
                </a:solidFill>
              </a:rPr>
              <a:t>GO Hogar si…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Visitas en marcados −15 % o más, significativo, opt-out &lt; 2 %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La IA supera a la regla por 1.3× (si no, se usa la regla)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6A35A"/>
                </a:solidFill>
              </a:rPr>
              <a:t>GO Móvil si…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Llamadas −12 % o más, significativo, opt-out &lt; 2 %</a:t>
            </a:r>
            <a:endParaRPr lang="en-US" sz="1500" dirty="0"/>
          </a:p>
        </p:txBody>
      </p:sp>
      <p:sp>
        <p:nvSpPr>
          <p:cNvPr id="17" name="nogo"/>
          <p:cNvSpPr/>
          <p:nvPr/>
        </p:nvSpPr>
        <p:spPr>
          <a:xfrm>
            <a:off x="6309360" y="3520440"/>
            <a:ext cx="5303520" cy="2240280"/>
          </a:xfrm>
          <a:prstGeom prst="roundRect">
            <a:avLst>
              <a:gd name="adj" fmla="val 4898"/>
            </a:avLst>
          </a:prstGeom>
          <a:solidFill>
            <a:srgbClr val="FDECEC"/>
          </a:solidFill>
          <a:ln w="12700">
            <a:solidFill>
              <a:srgbClr val="FDECEC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8" name="nogo-t"/>
          <p:cNvSpPr txBox="1"/>
          <p:nvPr/>
        </p:nvSpPr>
        <p:spPr>
          <a:xfrm>
            <a:off x="6583680" y="36118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E0303A"/>
                </a:solidFill>
              </a:rPr>
              <a:t>NO-GO si…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hay diferencia significativa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El efecto no supera el mínimo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Los clientes rechazan los mensajes. Se detiene con costo acotado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Seguridad y privacidad con la vara de un hiperescalador</a:t>
            </a:r>
            <a:endParaRPr lang="en-US" sz="3200" dirty="0"/>
          </a:p>
        </p:txBody>
      </p:sp>
      <p:sp>
        <p:nvSpPr>
          <p:cNvPr id="3" name="sp0"/>
          <p:cNvSpPr/>
          <p:nvPr/>
        </p:nvSpPr>
        <p:spPr>
          <a:xfrm>
            <a:off x="548640" y="137160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spt0"/>
          <p:cNvSpPr txBox="1"/>
          <p:nvPr/>
        </p:nvSpPr>
        <p:spPr>
          <a:xfrm>
            <a:off x="777240" y="146304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Datos mínimos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Solo desempeño del módem y la línea. Nunca contenido, navegación ni dispositivos del cliente (art. 100 de la Constitución).</a:t>
            </a:r>
            <a:endParaRPr lang="en-US" sz="1700" dirty="0"/>
          </a:p>
        </p:txBody>
      </p:sp>
      <p:sp>
        <p:nvSpPr>
          <p:cNvPr id="5" name="sp1"/>
          <p:cNvSpPr/>
          <p:nvPr/>
        </p:nvSpPr>
        <p:spPr>
          <a:xfrm>
            <a:off x="548640" y="283464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6" name="spt1"/>
          <p:cNvSpPr txBox="1"/>
          <p:nvPr/>
        </p:nvSpPr>
        <p:spPr>
          <a:xfrm>
            <a:off x="777240" y="292608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Estándar más exigente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GDPR como vara (Honduras aún no tiene ley integral), ISO 27001/27701/42001, SOC 2, NIST, OWASP API y LLM.</a:t>
            </a:r>
            <a:endParaRPr lang="en-US" sz="1700" dirty="0"/>
          </a:p>
        </p:txBody>
      </p:sp>
      <p:sp>
        <p:nvSpPr>
          <p:cNvPr id="7" name="sp2"/>
          <p:cNvSpPr/>
          <p:nvPr/>
        </p:nvSpPr>
        <p:spPr>
          <a:xfrm>
            <a:off x="548640" y="4297680"/>
            <a:ext cx="548640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8" name="spt2"/>
          <p:cNvSpPr txBox="1"/>
          <p:nvPr/>
        </p:nvSpPr>
        <p:spPr>
          <a:xfrm>
            <a:off x="777240" y="438912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Al LLM, casi nada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Nombre de pila saneado y tipo de situación. Sin ID, teléfono ni ubicación. Guardrail anti-phishing.</a:t>
            </a:r>
            <a:endParaRPr lang="en-US" sz="1700" dirty="0"/>
          </a:p>
        </p:txBody>
      </p:sp>
      <p:sp>
        <p:nvSpPr>
          <p:cNvPr id="9" name="red-team"/>
          <p:cNvSpPr/>
          <p:nvPr/>
        </p:nvSpPr>
        <p:spPr>
          <a:xfrm>
            <a:off x="6309360" y="1371600"/>
            <a:ext cx="5303520" cy="4251960"/>
          </a:xfrm>
          <a:prstGeom prst="roundRect">
            <a:avLst>
              <a:gd name="adj" fmla="val 2581"/>
            </a:avLst>
          </a:prstGeom>
          <a:solidFill>
            <a:srgbClr val="00377B"/>
          </a:solidFill>
          <a:ln w="12700">
            <a:solidFill>
              <a:srgbClr val="00377B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rt"/>
          <p:cNvSpPr txBox="1"/>
          <p:nvPr/>
        </p:nvSpPr>
        <p:spPr>
          <a:xfrm>
            <a:off x="6583680" y="160020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rgbClr val="00C8FF"/>
                </a:solidFill>
              </a:rPr>
              <a:t>Red team propio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FFFFF"/>
                </a:solidFill>
              </a:rPr>
              <a:t>12 ataques confirmados y corregidos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ADCFC"/>
                </a:solidFill>
              </a:rPr>
              <a:t>Sesiones robadas, falta de roles, CSRF, phishing por IA, inyección, modelos alterados, tokens débiles, servidor expuesto…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</a:rPr>
              <a:t>Cada uno con su prueba automática. Más de 200 pruebas en total.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00C8FF"/>
                </a:solidFill>
              </a:rPr>
              <a:t>Producción: SSO con MFA, cifrado con KMS, WAF y pentest independiente.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Listo para producción, sin integraciones grandes</a:t>
            </a:r>
            <a:endParaRPr lang="en-US" sz="3200" dirty="0"/>
          </a:p>
        </p:txBody>
      </p:sp>
      <p:sp>
        <p:nvSpPr>
          <p:cNvPr id="3" name="i0"/>
          <p:cNvSpPr/>
          <p:nvPr/>
        </p:nvSpPr>
        <p:spPr>
          <a:xfrm>
            <a:off x="548640" y="13258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4" name="it0"/>
          <p:cNvSpPr txBox="1"/>
          <p:nvPr/>
        </p:nvSpPr>
        <p:spPr>
          <a:xfrm>
            <a:off x="777240" y="1389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ACS / OLT / CMTS: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telemetría diaria de módems</a:t>
            </a:r>
            <a:endParaRPr lang="en-US" sz="1400" dirty="0"/>
          </a:p>
        </p:txBody>
      </p:sp>
      <p:sp>
        <p:nvSpPr>
          <p:cNvPr id="5" name="if0"/>
          <p:cNvSpPr txBox="1"/>
          <p:nvPr/>
        </p:nvSpPr>
        <p:spPr>
          <a:xfrm>
            <a:off x="4709160" y="1389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6" name="i1"/>
          <p:cNvSpPr/>
          <p:nvPr/>
        </p:nvSpPr>
        <p:spPr>
          <a:xfrm>
            <a:off x="548640" y="20116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7" name="it1"/>
          <p:cNvSpPr txBox="1"/>
          <p:nvPr/>
        </p:nvSpPr>
        <p:spPr>
          <a:xfrm>
            <a:off x="777240" y="20756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Órdenes de campo: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visitas y código de cierre</a:t>
            </a:r>
            <a:endParaRPr lang="en-US" sz="1400" dirty="0"/>
          </a:p>
        </p:txBody>
      </p:sp>
      <p:sp>
        <p:nvSpPr>
          <p:cNvPr id="8" name="if1"/>
          <p:cNvSpPr txBox="1"/>
          <p:nvPr/>
        </p:nvSpPr>
        <p:spPr>
          <a:xfrm>
            <a:off x="4709160" y="20756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9" name="i2"/>
          <p:cNvSpPr/>
          <p:nvPr/>
        </p:nvSpPr>
        <p:spPr>
          <a:xfrm>
            <a:off x="548640" y="26974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0" name="it2"/>
          <p:cNvSpPr txBox="1"/>
          <p:nvPr/>
        </p:nvSpPr>
        <p:spPr>
          <a:xfrm>
            <a:off x="777240" y="27614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NOC / OSS: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sitios caídos, causa, hora</a:t>
            </a:r>
            <a:endParaRPr lang="en-US" sz="1400" dirty="0"/>
          </a:p>
        </p:txBody>
      </p:sp>
      <p:sp>
        <p:nvSpPr>
          <p:cNvPr id="11" name="if2"/>
          <p:cNvSpPr txBox="1"/>
          <p:nvPr/>
        </p:nvSpPr>
        <p:spPr>
          <a:xfrm>
            <a:off x="4709160" y="27614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15 min</a:t>
            </a:r>
            <a:endParaRPr lang="en-US" sz="1200" dirty="0"/>
          </a:p>
        </p:txBody>
      </p:sp>
      <p:sp>
        <p:nvSpPr>
          <p:cNvPr id="12" name="i3"/>
          <p:cNvSpPr/>
          <p:nvPr/>
        </p:nvSpPr>
        <p:spPr>
          <a:xfrm>
            <a:off x="548640" y="33832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3" name="it3"/>
          <p:cNvSpPr txBox="1"/>
          <p:nvPr/>
        </p:nvSpPr>
        <p:spPr>
          <a:xfrm>
            <a:off x="777240" y="34472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CRM / BSS: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consentimiento, opt-out</a:t>
            </a:r>
            <a:endParaRPr lang="en-US" sz="1400" dirty="0"/>
          </a:p>
        </p:txBody>
      </p:sp>
      <p:sp>
        <p:nvSpPr>
          <p:cNvPr id="14" name="if3"/>
          <p:cNvSpPr txBox="1"/>
          <p:nvPr/>
        </p:nvSpPr>
        <p:spPr>
          <a:xfrm>
            <a:off x="4709160" y="34472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15" name="i4"/>
          <p:cNvSpPr/>
          <p:nvPr/>
        </p:nvSpPr>
        <p:spPr>
          <a:xfrm>
            <a:off x="548640" y="40690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6" name="it4"/>
          <p:cNvSpPr txBox="1"/>
          <p:nvPr/>
        </p:nvSpPr>
        <p:spPr>
          <a:xfrm>
            <a:off x="777240" y="41330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Call center / IVR: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llamadas (métrica norte)</a:t>
            </a:r>
            <a:endParaRPr lang="en-US" sz="1400" dirty="0"/>
          </a:p>
        </p:txBody>
      </p:sp>
      <p:sp>
        <p:nvSpPr>
          <p:cNvPr id="17" name="if4"/>
          <p:cNvSpPr txBox="1"/>
          <p:nvPr/>
        </p:nvSpPr>
        <p:spPr>
          <a:xfrm>
            <a:off x="4709160" y="41330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CSV diario</a:t>
            </a:r>
            <a:endParaRPr lang="en-US" sz="1200" dirty="0"/>
          </a:p>
        </p:txBody>
      </p:sp>
      <p:sp>
        <p:nvSpPr>
          <p:cNvPr id="18" name="i5"/>
          <p:cNvSpPr/>
          <p:nvPr/>
        </p:nvSpPr>
        <p:spPr>
          <a:xfrm>
            <a:off x="548640" y="4754880"/>
            <a:ext cx="5760720" cy="585216"/>
          </a:xfrm>
          <a:prstGeom prst="roundRect">
            <a:avLst>
              <a:gd name="adj" fmla="val 18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9" name="it5"/>
          <p:cNvSpPr txBox="1"/>
          <p:nvPr/>
        </p:nvSpPr>
        <p:spPr>
          <a:xfrm>
            <a:off x="777240" y="481888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WhatsApp Business: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entrega, respuestas, opt-out</a:t>
            </a:r>
            <a:endParaRPr lang="en-US" sz="1400" dirty="0"/>
          </a:p>
        </p:txBody>
      </p:sp>
      <p:sp>
        <p:nvSpPr>
          <p:cNvPr id="20" name="if5"/>
          <p:cNvSpPr txBox="1"/>
          <p:nvPr/>
        </p:nvSpPr>
        <p:spPr>
          <a:xfrm>
            <a:off x="4709160" y="4818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webhook</a:t>
            </a:r>
            <a:endParaRPr lang="en-US" sz="1200" dirty="0"/>
          </a:p>
        </p:txBody>
      </p:sp>
      <p:sp>
        <p:nvSpPr>
          <p:cNvPr id="21" name="r0"/>
          <p:cNvSpPr/>
          <p:nvPr/>
        </p:nvSpPr>
        <p:spPr>
          <a:xfrm>
            <a:off x="6675120" y="132588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22" name="rt0"/>
          <p:cNvSpPr txBox="1"/>
          <p:nvPr/>
        </p:nvSpPr>
        <p:spPr>
          <a:xfrm>
            <a:off x="6903720" y="14173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Acciones remotas seguras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Lista cerrada, de madrugada, por lotes y con reversión. Las ejecuta el ACS, nunca el LLM.</a:t>
            </a:r>
            <a:endParaRPr lang="en-US" sz="1700" dirty="0"/>
          </a:p>
        </p:txBody>
      </p:sp>
      <p:sp>
        <p:nvSpPr>
          <p:cNvPr id="23" name="r1"/>
          <p:cNvSpPr/>
          <p:nvPr/>
        </p:nvSpPr>
        <p:spPr>
          <a:xfrm>
            <a:off x="6675120" y="269748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24" name="rt1"/>
          <p:cNvSpPr txBox="1"/>
          <p:nvPr/>
        </p:nvSpPr>
        <p:spPr>
          <a:xfrm>
            <a:off x="6903720" y="27889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Riesgo principal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Que la IA no gane con datos reales: se prueba antes, en las semanas 0–2. Si no, se usa la regla.</a:t>
            </a:r>
            <a:endParaRPr lang="en-US" sz="1700" dirty="0"/>
          </a:p>
        </p:txBody>
      </p:sp>
      <p:sp>
        <p:nvSpPr>
          <p:cNvPr id="25" name="r2"/>
          <p:cNvSpPr/>
          <p:nvPr/>
        </p:nvSpPr>
        <p:spPr>
          <a:xfrm>
            <a:off x="6675120" y="4069080"/>
            <a:ext cx="493776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26" name="rt2"/>
          <p:cNvSpPr txBox="1"/>
          <p:nvPr/>
        </p:nvSpPr>
        <p:spPr>
          <a:xfrm>
            <a:off x="6903720" y="416052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Cumplimiento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Evaluación de impacto, plantillas aprobadas y visto bueno de Legal antes del primer mensaje.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pedimos a los Sharks</a:t>
            </a:r>
            <a:endParaRPr lang="en-US" sz="3200" dirty="0"/>
          </a:p>
        </p:txBody>
      </p:sp>
      <p:sp>
        <p:nvSpPr>
          <p:cNvPr id="3" name="k0"/>
          <p:cNvSpPr/>
          <p:nvPr/>
        </p:nvSpPr>
        <p:spPr>
          <a:xfrm>
            <a:off x="548640" y="141732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k0-t"/>
          <p:cNvSpPr txBox="1"/>
          <p:nvPr/>
        </p:nvSpPr>
        <p:spPr>
          <a:xfrm>
            <a:off x="548640" y="1417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1</a:t>
            </a:r>
            <a:endParaRPr lang="en-US" sz="1950" dirty="0"/>
          </a:p>
        </p:txBody>
      </p:sp>
      <p:sp>
        <p:nvSpPr>
          <p:cNvPr id="5" name="kt0"/>
          <p:cNvSpPr txBox="1"/>
          <p:nvPr/>
        </p:nvSpPr>
        <p:spPr>
          <a:xfrm>
            <a:off x="1463040" y="137160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Datos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CSV diarios del NOC, ACS/OLT, CRM, call center y órdenes de campo de San Pedro Sula</a:t>
            </a:r>
            <a:endParaRPr lang="en-US" sz="1800" dirty="0"/>
          </a:p>
        </p:txBody>
      </p:sp>
      <p:sp>
        <p:nvSpPr>
          <p:cNvPr id="6" name="k1"/>
          <p:cNvSpPr/>
          <p:nvPr/>
        </p:nvSpPr>
        <p:spPr>
          <a:xfrm>
            <a:off x="548640" y="246888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k1-t"/>
          <p:cNvSpPr txBox="1"/>
          <p:nvPr/>
        </p:nvSpPr>
        <p:spPr>
          <a:xfrm>
            <a:off x="548640" y="24688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2</a:t>
            </a:r>
            <a:endParaRPr lang="en-US" sz="1950" dirty="0"/>
          </a:p>
        </p:txBody>
      </p:sp>
      <p:sp>
        <p:nvSpPr>
          <p:cNvPr id="8" name="kt1"/>
          <p:cNvSpPr txBox="1"/>
          <p:nvPr/>
        </p:nvSpPr>
        <p:spPr>
          <a:xfrm>
            <a:off x="1463040" y="24231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Equipo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Patrocinador, enlaces del NOC y de ingeniería de acceso, soporte N2 y un analista al 50 %</a:t>
            </a:r>
            <a:endParaRPr lang="en-US" sz="1800" dirty="0"/>
          </a:p>
        </p:txBody>
      </p:sp>
      <p:sp>
        <p:nvSpPr>
          <p:cNvPr id="9" name="k2"/>
          <p:cNvSpPr/>
          <p:nvPr/>
        </p:nvSpPr>
        <p:spPr>
          <a:xfrm>
            <a:off x="548640" y="352044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0" name="k2-t"/>
          <p:cNvSpPr txBox="1"/>
          <p:nvPr/>
        </p:nvSpPr>
        <p:spPr>
          <a:xfrm>
            <a:off x="54864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3</a:t>
            </a:r>
            <a:endParaRPr lang="en-US" sz="1950" dirty="0"/>
          </a:p>
        </p:txBody>
      </p:sp>
      <p:sp>
        <p:nvSpPr>
          <p:cNvPr id="11" name="kt2"/>
          <p:cNvSpPr txBox="1"/>
          <p:nvPr/>
        </p:nvSpPr>
        <p:spPr>
          <a:xfrm>
            <a:off x="1463040" y="347472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Canal y cumplimiento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Plantillas de WhatsApp Business, evaluación de impacto y visto bueno de Legal</a:t>
            </a:r>
            <a:endParaRPr lang="en-US" sz="1800" dirty="0"/>
          </a:p>
        </p:txBody>
      </p:sp>
      <p:sp>
        <p:nvSpPr>
          <p:cNvPr id="12" name="k3"/>
          <p:cNvSpPr/>
          <p:nvPr/>
        </p:nvSpPr>
        <p:spPr>
          <a:xfrm>
            <a:off x="548640" y="4572000"/>
            <a:ext cx="685800" cy="68580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3" name="k3-t"/>
          <p:cNvSpPr txBox="1"/>
          <p:nvPr/>
        </p:nvSpPr>
        <p:spPr>
          <a:xfrm>
            <a:off x="548640" y="4572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00377B"/>
                </a:solidFill>
              </a:rPr>
              <a:t>4</a:t>
            </a:r>
            <a:endParaRPr lang="en-US" sz="1950" dirty="0"/>
          </a:p>
        </p:txBody>
      </p:sp>
      <p:sp>
        <p:nvSpPr>
          <p:cNvPr id="14" name="kt3"/>
          <p:cNvSpPr txBox="1"/>
          <p:nvPr/>
        </p:nvSpPr>
        <p:spPr>
          <a:xfrm>
            <a:off x="1463040" y="452628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Decisión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 la semana 12, con números reales, ustedes deciden GO o NO-GO por frente</a:t>
            </a:r>
            <a:endParaRPr lang="en-US" sz="1800" dirty="0"/>
          </a:p>
        </p:txBody>
      </p:sp>
      <p:sp>
        <p:nvSpPr>
          <p:cNvPr id="15" name="inv"/>
          <p:cNvSpPr/>
          <p:nvPr/>
        </p:nvSpPr>
        <p:spPr>
          <a:xfrm>
            <a:off x="7680960" y="1417320"/>
            <a:ext cx="3931920" cy="4023360"/>
          </a:xfrm>
          <a:prstGeom prst="roundRect">
            <a:avLst>
              <a:gd name="adj" fmla="val 3488"/>
            </a:avLst>
          </a:prstGeom>
          <a:solidFill>
            <a:srgbClr val="00377B"/>
          </a:solidFill>
          <a:ln w="12700">
            <a:solidFill>
              <a:srgbClr val="00377B"/>
            </a:solidFill>
            <a:prstDash val="solid"/>
          </a:ln>
          <a:effectLst>
            <a:outerShdw sx="100000" sy="100000" kx="0" ky="0" algn="bl" rotWithShape="0" blurRad="76200" dist="25400" dir="5400000">
              <a:srgbClr val="0F1B2D">
                <a:alpha val="12000"/>
              </a:srgbClr>
            </a:outerShdw>
          </a:effectLst>
        </p:spPr>
      </p:sp>
      <p:sp>
        <p:nvSpPr>
          <p:cNvPr id="16" name="inv-t"/>
          <p:cNvSpPr txBox="1"/>
          <p:nvPr/>
        </p:nvSpPr>
        <p:spPr>
          <a:xfrm>
            <a:off x="8001000" y="17373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C8FF"/>
                </a:solidFill>
              </a:rPr>
              <a:t>Inversión del piloto</a:t>
            </a:r>
            <a:endParaRPr lang="en-US" sz="1800" dirty="0"/>
          </a:p>
        </p:txBody>
      </p:sp>
      <p:sp>
        <p:nvSpPr>
          <p:cNvPr id="17" name="inv-v"/>
          <p:cNvSpPr txBox="1"/>
          <p:nvPr/>
        </p:nvSpPr>
        <p:spPr>
          <a:xfrm>
            <a:off x="8001000" y="22860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L 770 mil</a:t>
            </a:r>
            <a:endParaRPr lang="en-US" sz="4600" dirty="0"/>
          </a:p>
        </p:txBody>
      </p:sp>
      <p:sp>
        <p:nvSpPr>
          <p:cNvPr id="18" name="inv-r"/>
          <p:cNvSpPr txBox="1"/>
          <p:nvPr/>
        </p:nvSpPr>
        <p:spPr>
          <a:xfrm>
            <a:off x="8001000" y="32004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≈ US$ 28 mil · rango L 480 mil a L 1.2 M</a:t>
            </a:r>
            <a:endParaRPr lang="en-US" sz="1500" dirty="0"/>
          </a:p>
        </p:txBody>
      </p:sp>
      <p:sp>
        <p:nvSpPr>
          <p:cNvPr id="19" name="inv-n"/>
          <p:cNvSpPr txBox="1"/>
          <p:nvPr/>
        </p:nvSpPr>
        <p:spPr>
          <a:xfrm>
            <a:off x="800100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Hogar + Móvil: integración por CSV, equipo, infraestructura, mensajes y compensaciones con tope.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188720"/>
            <a:ext cx="10698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1"/>
                </a:solidFill>
              </a:rPr>
              <a:t>Los chatbots atienden la llamada. Tigo Predice evita que ocurra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00C8FF"/>
                </a:solidFill>
              </a:rPr>
              <a:t>…y evita la visita.</a:t>
            </a:r>
            <a:endParaRPr lang="en-US" sz="2400" dirty="0"/>
          </a:p>
        </p:txBody>
      </p:sp>
      <p:sp>
        <p:nvSpPr>
          <p:cNvPr id="4" name="contacto"/>
          <p:cNvSpPr txBox="1"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Tigo Predice · [Nombre] · [Correo]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go Predice">
  <a:themeElements>
    <a:clrScheme name="Tigo Predice">
      <a:dk1>
        <a:srgbClr val="0F1B2D"/>
      </a:dk1>
      <a:lt1>
        <a:srgbClr val="FFFFFF"/>
      </a:lt1>
      <a:dk2>
        <a:srgbClr val="00377B"/>
      </a:dk2>
      <a:lt2>
        <a:srgbClr val="EEF3F9"/>
      </a:lt2>
      <a:accent1>
        <a:srgbClr val="00377B"/>
      </a:accent1>
      <a:accent2>
        <a:srgbClr val="00A3CC"/>
      </a:accent2>
      <a:accent3>
        <a:srgbClr val="B0479B"/>
      </a:accent3>
      <a:accent4>
        <a:srgbClr val="1E5BBF"/>
      </a:accent4>
      <a:accent5>
        <a:srgbClr val="F2A20C"/>
      </a:accent5>
      <a:accent6>
        <a:srgbClr val="16A35A"/>
      </a:accent6>
      <a:hlink>
        <a:srgbClr val="1E5BBF"/>
      </a:hlink>
      <a:folHlink>
        <a:srgbClr val="B0479B"/>
      </a:folHlink>
    </a:clrScheme>
    <a:fontScheme name="Tigo Pred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Tigo Predice v03 — Tigo CX Month</dc:title>
  <dc:subject>PptxGenJS Presentation</dc:subject>
  <dc:creator>Tigo Predice</dc:creator>
  <cp:lastModifiedBy>Tigo Predice</cp:lastModifiedBy>
  <cp:revision>1</cp:revision>
  <dcterms:created xsi:type="dcterms:W3CDTF">2026-10-23T01:27:47Z</dcterms:created>
  <dcterms:modified xsi:type="dcterms:W3CDTF">2026-10-23T01:27:47Z</dcterms:modified>
</cp:coreProperties>
</file>